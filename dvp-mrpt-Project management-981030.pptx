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removePersonalInfoOnSave="1" saveSubsetFonts="1">
  <p:sldMasterIdLst>
    <p:sldMasterId id="2147483648" r:id="rId1"/>
  </p:sldMasterIdLst>
  <p:notesMasterIdLst>
    <p:notesMasterId r:id="rId19"/>
  </p:notesMasterIdLst>
  <p:sldIdLst>
    <p:sldId id="270" r:id="rId2"/>
    <p:sldId id="358" r:id="rId3"/>
    <p:sldId id="359" r:id="rId4"/>
    <p:sldId id="345" r:id="rId5"/>
    <p:sldId id="360" r:id="rId6"/>
    <p:sldId id="361" r:id="rId7"/>
    <p:sldId id="350" r:id="rId8"/>
    <p:sldId id="362" r:id="rId9"/>
    <p:sldId id="356" r:id="rId10"/>
    <p:sldId id="363" r:id="rId11"/>
    <p:sldId id="354" r:id="rId12"/>
    <p:sldId id="365" r:id="rId13"/>
    <p:sldId id="366" r:id="rId14"/>
    <p:sldId id="367" r:id="rId15"/>
    <p:sldId id="368" r:id="rId16"/>
    <p:sldId id="364" r:id="rId17"/>
    <p:sldId id="315" r:id="rId18"/>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1"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8ACF"/>
    <a:srgbClr val="D68B1C"/>
    <a:srgbClr val="D09622"/>
    <a:srgbClr val="CC99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1985" autoAdjust="0"/>
    <p:restoredTop sz="94660"/>
  </p:normalViewPr>
  <p:slideViewPr>
    <p:cSldViewPr>
      <p:cViewPr varScale="1">
        <p:scale>
          <a:sx n="74" d="100"/>
          <a:sy n="74" d="100"/>
        </p:scale>
        <p:origin x="1152" y="-186"/>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412910D5-C58A-4A8B-B6DD-4A4C27DBF07F}" type="datetimeFigureOut">
              <a:rPr lang="en-US" smtClean="0"/>
              <a:pPr/>
              <a:t>1/21/2020</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F2F4BA9-825C-47F5-8F9E-8DF546799CC7}" type="slidenum">
              <a:rPr lang="en-US" smtClean="0"/>
              <a:pPr/>
              <a:t>‹#›</a:t>
            </a:fld>
            <a:endParaRPr lang="en-US"/>
          </a:p>
        </p:txBody>
      </p:sp>
    </p:spTree>
    <p:extLst>
      <p:ext uri="{BB962C8B-B14F-4D97-AF65-F5344CB8AC3E}">
        <p14:creationId xmlns:p14="http://schemas.microsoft.com/office/powerpoint/2010/main" val="1857111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نگهدارنده مکان تصویر اسلاید 1"/>
          <p:cNvSpPr>
            <a:spLocks noGrp="1" noRot="1" noChangeAspect="1"/>
          </p:cNvSpPr>
          <p:nvPr>
            <p:ph type="sldImg"/>
          </p:nvPr>
        </p:nvSpPr>
        <p:spPr/>
      </p:sp>
      <p:sp>
        <p:nvSpPr>
          <p:cNvPr id="3" name="نگهدارنده مکان نكات 2"/>
          <p:cNvSpPr>
            <a:spLocks noGrp="1"/>
          </p:cNvSpPr>
          <p:nvPr>
            <p:ph type="body" idx="1"/>
          </p:nvPr>
        </p:nvSpPr>
        <p:spPr/>
        <p:txBody>
          <a:bodyPr/>
          <a:lstStyle/>
          <a:p>
            <a:endParaRPr lang="fa-IR" dirty="0"/>
          </a:p>
        </p:txBody>
      </p:sp>
      <p:sp>
        <p:nvSpPr>
          <p:cNvPr id="4" name="نگهدارنده مکان شماره اسلاید 3"/>
          <p:cNvSpPr>
            <a:spLocks noGrp="1"/>
          </p:cNvSpPr>
          <p:nvPr>
            <p:ph type="sldNum" sz="quarter" idx="10"/>
          </p:nvPr>
        </p:nvSpPr>
        <p:spPr/>
        <p:txBody>
          <a:bodyPr/>
          <a:lstStyle/>
          <a:p>
            <a:fld id="{DF2F4BA9-825C-47F5-8F9E-8DF546799CC7}" type="slidenum">
              <a:rPr lang="en-US" smtClean="0"/>
              <a:pPr/>
              <a:t>7</a:t>
            </a:fld>
            <a:endParaRPr lang="en-US"/>
          </a:p>
        </p:txBody>
      </p:sp>
    </p:spTree>
    <p:extLst>
      <p:ext uri="{BB962C8B-B14F-4D97-AF65-F5344CB8AC3E}">
        <p14:creationId xmlns:p14="http://schemas.microsoft.com/office/powerpoint/2010/main" val="31135261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نگهدارنده مکان تصویر اسلاید 1"/>
          <p:cNvSpPr>
            <a:spLocks noGrp="1" noRot="1" noChangeAspect="1"/>
          </p:cNvSpPr>
          <p:nvPr>
            <p:ph type="sldImg"/>
          </p:nvPr>
        </p:nvSpPr>
        <p:spPr/>
      </p:sp>
      <p:sp>
        <p:nvSpPr>
          <p:cNvPr id="3" name="نگهدارنده مکان نكات 2"/>
          <p:cNvSpPr>
            <a:spLocks noGrp="1"/>
          </p:cNvSpPr>
          <p:nvPr>
            <p:ph type="body" idx="1"/>
          </p:nvPr>
        </p:nvSpPr>
        <p:spPr/>
        <p:txBody>
          <a:bodyPr/>
          <a:lstStyle/>
          <a:p>
            <a:endParaRPr lang="fa-IR" dirty="0"/>
          </a:p>
        </p:txBody>
      </p:sp>
      <p:sp>
        <p:nvSpPr>
          <p:cNvPr id="4" name="نگهدارنده مکان شماره اسلاید 3"/>
          <p:cNvSpPr>
            <a:spLocks noGrp="1"/>
          </p:cNvSpPr>
          <p:nvPr>
            <p:ph type="sldNum" sz="quarter" idx="10"/>
          </p:nvPr>
        </p:nvSpPr>
        <p:spPr/>
        <p:txBody>
          <a:bodyPr/>
          <a:lstStyle/>
          <a:p>
            <a:fld id="{DF2F4BA9-825C-47F5-8F9E-8DF546799CC7}" type="slidenum">
              <a:rPr lang="en-US" smtClean="0"/>
              <a:pPr/>
              <a:t>9</a:t>
            </a:fld>
            <a:endParaRPr lang="en-US"/>
          </a:p>
        </p:txBody>
      </p:sp>
    </p:spTree>
    <p:extLst>
      <p:ext uri="{BB962C8B-B14F-4D97-AF65-F5344CB8AC3E}">
        <p14:creationId xmlns:p14="http://schemas.microsoft.com/office/powerpoint/2010/main" val="38537713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نگهدارنده مکان تصویر اسلاید 1"/>
          <p:cNvSpPr>
            <a:spLocks noGrp="1" noRot="1" noChangeAspect="1"/>
          </p:cNvSpPr>
          <p:nvPr>
            <p:ph type="sldImg"/>
          </p:nvPr>
        </p:nvSpPr>
        <p:spPr/>
      </p:sp>
      <p:sp>
        <p:nvSpPr>
          <p:cNvPr id="3" name="نگهدارنده مکان نكات 2"/>
          <p:cNvSpPr>
            <a:spLocks noGrp="1"/>
          </p:cNvSpPr>
          <p:nvPr>
            <p:ph type="body" idx="1"/>
          </p:nvPr>
        </p:nvSpPr>
        <p:spPr/>
        <p:txBody>
          <a:bodyPr/>
          <a:lstStyle/>
          <a:p>
            <a:endParaRPr lang="fa-IR" dirty="0"/>
          </a:p>
        </p:txBody>
      </p:sp>
      <p:sp>
        <p:nvSpPr>
          <p:cNvPr id="4" name="نگهدارنده مکان شماره اسلاید 3"/>
          <p:cNvSpPr>
            <a:spLocks noGrp="1"/>
          </p:cNvSpPr>
          <p:nvPr>
            <p:ph type="sldNum" sz="quarter" idx="10"/>
          </p:nvPr>
        </p:nvSpPr>
        <p:spPr/>
        <p:txBody>
          <a:bodyPr/>
          <a:lstStyle/>
          <a:p>
            <a:fld id="{DF2F4BA9-825C-47F5-8F9E-8DF546799CC7}" type="slidenum">
              <a:rPr lang="en-US" smtClean="0"/>
              <a:pPr/>
              <a:t>11</a:t>
            </a:fld>
            <a:endParaRPr lang="en-US"/>
          </a:p>
        </p:txBody>
      </p:sp>
    </p:spTree>
    <p:extLst>
      <p:ext uri="{BB962C8B-B14F-4D97-AF65-F5344CB8AC3E}">
        <p14:creationId xmlns:p14="http://schemas.microsoft.com/office/powerpoint/2010/main" val="14532105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نگهدارنده مکان تصویر اسلاید 1"/>
          <p:cNvSpPr>
            <a:spLocks noGrp="1" noRot="1" noChangeAspect="1"/>
          </p:cNvSpPr>
          <p:nvPr>
            <p:ph type="sldImg"/>
          </p:nvPr>
        </p:nvSpPr>
        <p:spPr/>
      </p:sp>
      <p:sp>
        <p:nvSpPr>
          <p:cNvPr id="3" name="نگهدارنده مکان نكات 2"/>
          <p:cNvSpPr>
            <a:spLocks noGrp="1"/>
          </p:cNvSpPr>
          <p:nvPr>
            <p:ph type="body" idx="1"/>
          </p:nvPr>
        </p:nvSpPr>
        <p:spPr/>
        <p:txBody>
          <a:bodyPr/>
          <a:lstStyle/>
          <a:p>
            <a:endParaRPr lang="fa-IR" dirty="0"/>
          </a:p>
        </p:txBody>
      </p:sp>
      <p:sp>
        <p:nvSpPr>
          <p:cNvPr id="4" name="نگهدارنده مکان شماره اسلاید 3"/>
          <p:cNvSpPr>
            <a:spLocks noGrp="1"/>
          </p:cNvSpPr>
          <p:nvPr>
            <p:ph type="sldNum" sz="quarter" idx="10"/>
          </p:nvPr>
        </p:nvSpPr>
        <p:spPr/>
        <p:txBody>
          <a:bodyPr/>
          <a:lstStyle/>
          <a:p>
            <a:fld id="{DF2F4BA9-825C-47F5-8F9E-8DF546799CC7}" type="slidenum">
              <a:rPr lang="en-US" smtClean="0"/>
              <a:pPr/>
              <a:t>13</a:t>
            </a:fld>
            <a:endParaRPr lang="en-US"/>
          </a:p>
        </p:txBody>
      </p:sp>
    </p:spTree>
    <p:extLst>
      <p:ext uri="{BB962C8B-B14F-4D97-AF65-F5344CB8AC3E}">
        <p14:creationId xmlns:p14="http://schemas.microsoft.com/office/powerpoint/2010/main" val="17629849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نگهدارنده مکان تصویر اسلاید 1"/>
          <p:cNvSpPr>
            <a:spLocks noGrp="1" noRot="1" noChangeAspect="1"/>
          </p:cNvSpPr>
          <p:nvPr>
            <p:ph type="sldImg"/>
          </p:nvPr>
        </p:nvSpPr>
        <p:spPr/>
      </p:sp>
      <p:sp>
        <p:nvSpPr>
          <p:cNvPr id="3" name="نگهدارنده مکان نكات 2"/>
          <p:cNvSpPr>
            <a:spLocks noGrp="1"/>
          </p:cNvSpPr>
          <p:nvPr>
            <p:ph type="body" idx="1"/>
          </p:nvPr>
        </p:nvSpPr>
        <p:spPr/>
        <p:txBody>
          <a:bodyPr/>
          <a:lstStyle/>
          <a:p>
            <a:endParaRPr lang="fa-IR" dirty="0"/>
          </a:p>
        </p:txBody>
      </p:sp>
      <p:sp>
        <p:nvSpPr>
          <p:cNvPr id="4" name="نگهدارنده مکان شماره اسلاید 3"/>
          <p:cNvSpPr>
            <a:spLocks noGrp="1"/>
          </p:cNvSpPr>
          <p:nvPr>
            <p:ph type="sldNum" sz="quarter" idx="10"/>
          </p:nvPr>
        </p:nvSpPr>
        <p:spPr/>
        <p:txBody>
          <a:bodyPr/>
          <a:lstStyle/>
          <a:p>
            <a:fld id="{DF2F4BA9-825C-47F5-8F9E-8DF546799CC7}" type="slidenum">
              <a:rPr lang="en-US" smtClean="0"/>
              <a:pPr/>
              <a:t>15</a:t>
            </a:fld>
            <a:endParaRPr lang="en-US"/>
          </a:p>
        </p:txBody>
      </p:sp>
    </p:spTree>
    <p:extLst>
      <p:ext uri="{BB962C8B-B14F-4D97-AF65-F5344CB8AC3E}">
        <p14:creationId xmlns:p14="http://schemas.microsoft.com/office/powerpoint/2010/main" val="12845061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نگهدارنده مکان تصویر اسلاید 1"/>
          <p:cNvSpPr>
            <a:spLocks noGrp="1" noRot="1" noChangeAspect="1"/>
          </p:cNvSpPr>
          <p:nvPr>
            <p:ph type="sldImg"/>
          </p:nvPr>
        </p:nvSpPr>
        <p:spPr/>
      </p:sp>
      <p:sp>
        <p:nvSpPr>
          <p:cNvPr id="3" name="نگهدارنده مکان نكات 2"/>
          <p:cNvSpPr>
            <a:spLocks noGrp="1"/>
          </p:cNvSpPr>
          <p:nvPr>
            <p:ph type="body" idx="1"/>
          </p:nvPr>
        </p:nvSpPr>
        <p:spPr/>
        <p:txBody>
          <a:bodyPr/>
          <a:lstStyle/>
          <a:p>
            <a:endParaRPr lang="fa-IR" dirty="0"/>
          </a:p>
        </p:txBody>
      </p:sp>
      <p:sp>
        <p:nvSpPr>
          <p:cNvPr id="4" name="نگهدارنده مکان شماره اسلاید 3"/>
          <p:cNvSpPr>
            <a:spLocks noGrp="1"/>
          </p:cNvSpPr>
          <p:nvPr>
            <p:ph type="sldNum" sz="quarter" idx="10"/>
          </p:nvPr>
        </p:nvSpPr>
        <p:spPr/>
        <p:txBody>
          <a:bodyPr/>
          <a:lstStyle/>
          <a:p>
            <a:fld id="{DF2F4BA9-825C-47F5-8F9E-8DF546799CC7}" type="slidenum">
              <a:rPr lang="en-US" smtClean="0"/>
              <a:pPr/>
              <a:t>16</a:t>
            </a:fld>
            <a:endParaRPr lang="en-US"/>
          </a:p>
        </p:txBody>
      </p:sp>
    </p:spTree>
    <p:extLst>
      <p:ext uri="{BB962C8B-B14F-4D97-AF65-F5344CB8AC3E}">
        <p14:creationId xmlns:p14="http://schemas.microsoft.com/office/powerpoint/2010/main" val="223256474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059785" y="1901950"/>
            <a:ext cx="7772400" cy="1622730"/>
          </a:xfrm>
          <a:effectLst>
            <a:outerShdw blurRad="50800" dist="38100" dir="2700000" algn="tl" rotWithShape="0">
              <a:prstClr val="black">
                <a:alpha val="40000"/>
              </a:prstClr>
            </a:outerShdw>
          </a:effectLst>
        </p:spPr>
        <p:txBody>
          <a:bodyPr>
            <a:normAutofit/>
          </a:bodyPr>
          <a:lstStyle>
            <a:lvl1pPr algn="r">
              <a:defRPr sz="3600">
                <a:solidFill>
                  <a:schemeClr val="bg1"/>
                </a:solidFill>
              </a:defRPr>
            </a:lvl1pPr>
          </a:lstStyle>
          <a:p>
            <a:r>
              <a:rPr lang="en-US" dirty="0"/>
              <a:t>Click to edit </a:t>
            </a:r>
            <a:br>
              <a:rPr lang="en-US" dirty="0"/>
            </a:br>
            <a:r>
              <a:rPr lang="en-US" dirty="0"/>
              <a:t>Master title style</a:t>
            </a:r>
          </a:p>
        </p:txBody>
      </p:sp>
      <p:sp>
        <p:nvSpPr>
          <p:cNvPr id="3" name="Subtitle 2"/>
          <p:cNvSpPr>
            <a:spLocks noGrp="1"/>
          </p:cNvSpPr>
          <p:nvPr>
            <p:ph type="subTitle" idx="1"/>
          </p:nvPr>
        </p:nvSpPr>
        <p:spPr>
          <a:xfrm>
            <a:off x="2434130" y="3887114"/>
            <a:ext cx="6400800" cy="1374345"/>
          </a:xfrm>
        </p:spPr>
        <p:txBody>
          <a:bodyPr>
            <a:normAutofit/>
          </a:bodyPr>
          <a:lstStyle>
            <a:lvl1pPr marL="0" indent="0" algn="r">
              <a:buNone/>
              <a:defRPr sz="2600">
                <a:solidFill>
                  <a:schemeClr val="accent1">
                    <a:lumMod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a:t>
            </a:r>
          </a:p>
          <a:p>
            <a:r>
              <a:rPr lang="en-US" dirty="0"/>
              <a:t>Master subtitle style</a:t>
            </a:r>
          </a:p>
        </p:txBody>
      </p:sp>
      <p:sp>
        <p:nvSpPr>
          <p:cNvPr id="4" name="Date Placeholder 3"/>
          <p:cNvSpPr>
            <a:spLocks noGrp="1"/>
          </p:cNvSpPr>
          <p:nvPr>
            <p:ph type="dt" sz="half" idx="10"/>
          </p:nvPr>
        </p:nvSpPr>
        <p:spPr/>
        <p:txBody>
          <a:bodyPr/>
          <a:lstStyle/>
          <a:p>
            <a:fld id="{53074F12-AA26-4AC8-9962-C36BB8F32554}" type="datetimeFigureOut">
              <a:rPr lang="en-US" smtClean="0"/>
              <a:pPr/>
              <a:t>1/21/2020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2538751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448965" y="680310"/>
            <a:ext cx="8229600" cy="458115"/>
          </a:xfrm>
        </p:spPr>
        <p:txBody>
          <a:bodyPr>
            <a:normAutofit/>
          </a:bodyPr>
          <a:lstStyle>
            <a:lvl1pPr algn="l">
              <a:defRPr sz="3600">
                <a:solidFill>
                  <a:schemeClr val="accent1">
                    <a:lumMod val="50000"/>
                  </a:schemeClr>
                </a:solidFill>
              </a:defRPr>
            </a:lvl1pPr>
          </a:lstStyle>
          <a:p>
            <a:r>
              <a:rPr lang="en-US" dirty="0"/>
              <a:t>Click to edit Master title style</a:t>
            </a:r>
          </a:p>
        </p:txBody>
      </p:sp>
      <p:sp>
        <p:nvSpPr>
          <p:cNvPr id="3" name="Content Placeholder 2"/>
          <p:cNvSpPr>
            <a:spLocks noGrp="1"/>
          </p:cNvSpPr>
          <p:nvPr>
            <p:ph idx="1"/>
          </p:nvPr>
        </p:nvSpPr>
        <p:spPr>
          <a:xfrm>
            <a:off x="448965" y="1291130"/>
            <a:ext cx="8229600" cy="3918803"/>
          </a:xfrm>
        </p:spPr>
        <p:txBody>
          <a:bodyPr/>
          <a:lstStyle>
            <a:lvl1pPr>
              <a:defRPr sz="2800">
                <a:solidFill>
                  <a:srgbClr val="018ACF"/>
                </a:solidFill>
              </a:defRPr>
            </a:lvl1pPr>
            <a:lvl2pPr>
              <a:defRPr>
                <a:solidFill>
                  <a:srgbClr val="018ACF"/>
                </a:solidFill>
              </a:defRPr>
            </a:lvl2pPr>
            <a:lvl3pPr>
              <a:defRPr>
                <a:solidFill>
                  <a:srgbClr val="018ACF"/>
                </a:solidFill>
              </a:defRPr>
            </a:lvl3pPr>
            <a:lvl4pPr>
              <a:defRPr>
                <a:solidFill>
                  <a:srgbClr val="018ACF"/>
                </a:solidFill>
              </a:defRPr>
            </a:lvl4pPr>
            <a:lvl5pP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3074F12-AA26-4AC8-9962-C36BB8F32554}" type="datetimeFigureOut">
              <a:rPr lang="en-US" smtClean="0"/>
              <a:pPr/>
              <a:t>1/21/2020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644713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1_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823310" y="527605"/>
            <a:ext cx="7016195" cy="610820"/>
          </a:xfrm>
        </p:spPr>
        <p:txBody>
          <a:bodyPr>
            <a:normAutofit/>
          </a:bodyPr>
          <a:lstStyle>
            <a:lvl1pPr algn="l">
              <a:defRPr sz="3600">
                <a:solidFill>
                  <a:srgbClr val="018ACF"/>
                </a:solidFill>
              </a:defRPr>
            </a:lvl1pPr>
          </a:lstStyle>
          <a:p>
            <a:r>
              <a:rPr lang="en-US" dirty="0"/>
              <a:t>Click to edit Master title style</a:t>
            </a:r>
          </a:p>
        </p:txBody>
      </p:sp>
      <p:sp>
        <p:nvSpPr>
          <p:cNvPr id="3" name="Content Placeholder 2"/>
          <p:cNvSpPr>
            <a:spLocks noGrp="1"/>
          </p:cNvSpPr>
          <p:nvPr>
            <p:ph idx="1"/>
          </p:nvPr>
        </p:nvSpPr>
        <p:spPr>
          <a:xfrm>
            <a:off x="1823311" y="1138425"/>
            <a:ext cx="7016195" cy="4275740"/>
          </a:xfrm>
        </p:spPr>
        <p:txBody>
          <a:bodyPr/>
          <a:lstStyle>
            <a:lvl1pPr>
              <a:defRPr sz="2800">
                <a:solidFill>
                  <a:schemeClr val="accent1">
                    <a:lumMod val="75000"/>
                  </a:schemeClr>
                </a:solidFill>
              </a:defRPr>
            </a:lvl1pPr>
            <a:lvl2pPr>
              <a:defRPr>
                <a:solidFill>
                  <a:schemeClr val="accent1">
                    <a:lumMod val="75000"/>
                  </a:schemeClr>
                </a:solidFill>
              </a:defRPr>
            </a:lvl2pPr>
            <a:lvl3pPr>
              <a:defRPr>
                <a:solidFill>
                  <a:schemeClr val="accent1">
                    <a:lumMod val="75000"/>
                  </a:schemeClr>
                </a:solidFill>
              </a:defRPr>
            </a:lvl3pPr>
            <a:lvl4pPr>
              <a:defRPr>
                <a:solidFill>
                  <a:schemeClr val="accent1">
                    <a:lumMod val="75000"/>
                  </a:schemeClr>
                </a:solidFill>
              </a:defRPr>
            </a:lvl4pPr>
            <a:lvl5pPr>
              <a:defRPr>
                <a:solidFill>
                  <a:schemeClr val="accent1">
                    <a:lumMod val="75000"/>
                  </a:schemeClr>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53074F12-AA26-4AC8-9962-C36BB8F32554}" type="datetimeFigureOut">
              <a:rPr lang="en-US" smtClean="0"/>
              <a:pPr/>
              <a:t>1/21/2020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16293913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3074F12-AA26-4AC8-9962-C36BB8F32554}" type="datetimeFigureOut">
              <a:rPr lang="en-US" smtClean="0"/>
              <a:pPr/>
              <a:t>1/21/2020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8634415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3074F12-AA26-4AC8-9962-C36BB8F32554}" type="datetimeFigureOut">
              <a:rPr lang="en-US" smtClean="0"/>
              <a:pPr/>
              <a:t>1/21/2020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5567918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48965" y="527605"/>
            <a:ext cx="8229600" cy="610820"/>
          </a:xfrm>
        </p:spPr>
        <p:txBody>
          <a:bodyPr>
            <a:normAutofit/>
          </a:bodyPr>
          <a:lstStyle>
            <a:lvl1pPr algn="l">
              <a:defRPr sz="3600">
                <a:solidFill>
                  <a:schemeClr val="accent1">
                    <a:lumMod val="75000"/>
                  </a:schemeClr>
                </a:solidFill>
              </a:defRPr>
            </a:lvl1pPr>
          </a:lstStyle>
          <a:p>
            <a:r>
              <a:rPr lang="en-US" dirty="0"/>
              <a:t>Click to edit Master title style</a:t>
            </a:r>
          </a:p>
        </p:txBody>
      </p:sp>
      <p:sp>
        <p:nvSpPr>
          <p:cNvPr id="3" name="Text Placeholder 2"/>
          <p:cNvSpPr>
            <a:spLocks noGrp="1"/>
          </p:cNvSpPr>
          <p:nvPr>
            <p:ph type="body" idx="1"/>
          </p:nvPr>
        </p:nvSpPr>
        <p:spPr>
          <a:xfrm>
            <a:off x="448965" y="1272087"/>
            <a:ext cx="4040188" cy="639762"/>
          </a:xfrm>
        </p:spPr>
        <p:txBody>
          <a:bodyPr anchor="b"/>
          <a:lstStyle>
            <a:lvl1pPr marL="0" indent="0">
              <a:buNone/>
              <a:defRPr sz="2400" b="1">
                <a:solidFill>
                  <a:srgbClr val="018ACF"/>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48965" y="1901950"/>
            <a:ext cx="4040188" cy="3035058"/>
          </a:xfrm>
        </p:spPr>
        <p:txBody>
          <a:bodyPr/>
          <a:lstStyle>
            <a:lvl1pPr>
              <a:defRPr sz="2400">
                <a:solidFill>
                  <a:schemeClr val="accent1">
                    <a:lumMod val="75000"/>
                  </a:schemeClr>
                </a:solidFill>
              </a:defRPr>
            </a:lvl1pPr>
            <a:lvl2pPr>
              <a:defRPr sz="2000">
                <a:solidFill>
                  <a:schemeClr val="accent1">
                    <a:lumMod val="75000"/>
                  </a:schemeClr>
                </a:solidFill>
              </a:defRPr>
            </a:lvl2pPr>
            <a:lvl3pPr>
              <a:defRPr sz="1800">
                <a:solidFill>
                  <a:schemeClr val="accent1">
                    <a:lumMod val="75000"/>
                  </a:schemeClr>
                </a:solidFill>
              </a:defRPr>
            </a:lvl3pPr>
            <a:lvl4pPr>
              <a:defRPr sz="1600">
                <a:solidFill>
                  <a:schemeClr val="accent1">
                    <a:lumMod val="75000"/>
                  </a:schemeClr>
                </a:solidFill>
              </a:defRPr>
            </a:lvl4pPr>
            <a:lvl5pPr>
              <a:defRPr sz="1600">
                <a:solidFill>
                  <a:schemeClr val="accent1">
                    <a:lumMod val="75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636790" y="1272087"/>
            <a:ext cx="4041775" cy="639762"/>
          </a:xfrm>
        </p:spPr>
        <p:txBody>
          <a:bodyPr anchor="b"/>
          <a:lstStyle>
            <a:lvl1pPr marL="0" indent="0">
              <a:buNone/>
              <a:defRPr sz="2400" b="1">
                <a:solidFill>
                  <a:srgbClr val="018ACF"/>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4636790" y="1901950"/>
            <a:ext cx="4041775" cy="3035058"/>
          </a:xfrm>
        </p:spPr>
        <p:txBody>
          <a:bodyPr/>
          <a:lstStyle>
            <a:lvl1pPr>
              <a:defRPr sz="2400">
                <a:solidFill>
                  <a:schemeClr val="accent1">
                    <a:lumMod val="75000"/>
                  </a:schemeClr>
                </a:solidFill>
              </a:defRPr>
            </a:lvl1pPr>
            <a:lvl2pPr>
              <a:defRPr sz="2000">
                <a:solidFill>
                  <a:schemeClr val="accent1">
                    <a:lumMod val="75000"/>
                  </a:schemeClr>
                </a:solidFill>
              </a:defRPr>
            </a:lvl2pPr>
            <a:lvl3pPr>
              <a:defRPr sz="1800">
                <a:solidFill>
                  <a:schemeClr val="accent1">
                    <a:lumMod val="75000"/>
                  </a:schemeClr>
                </a:solidFill>
              </a:defRPr>
            </a:lvl3pPr>
            <a:lvl4pPr>
              <a:defRPr sz="1600">
                <a:solidFill>
                  <a:schemeClr val="accent1">
                    <a:lumMod val="75000"/>
                  </a:schemeClr>
                </a:solidFill>
              </a:defRPr>
            </a:lvl4pPr>
            <a:lvl5pPr>
              <a:defRPr sz="1600">
                <a:solidFill>
                  <a:schemeClr val="accent1">
                    <a:lumMod val="75000"/>
                  </a:schemeClr>
                </a:solidFill>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53074F12-AA26-4AC8-9962-C36BB8F32554}" type="datetimeFigureOut">
              <a:rPr lang="en-US" smtClean="0"/>
              <a:pPr/>
              <a:t>1/21/2020</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122911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3074F12-AA26-4AC8-9962-C36BB8F32554}" type="datetimeFigureOut">
              <a:rPr lang="en-US" smtClean="0"/>
              <a:pPr/>
              <a:t>1/21/2020</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0297731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3074F12-AA26-4AC8-9962-C36BB8F32554}" type="datetimeFigureOut">
              <a:rPr lang="en-US" smtClean="0"/>
              <a:pPr/>
              <a:t>1/21/2020</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2518640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3074F12-AA26-4AC8-9962-C36BB8F32554}" type="datetimeFigureOut">
              <a:rPr lang="en-US" smtClean="0"/>
              <a:pPr/>
              <a:t>1/21/2020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174452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3074F12-AA26-4AC8-9962-C36BB8F32554}" type="datetimeFigureOut">
              <a:rPr lang="en-US" smtClean="0"/>
              <a:pPr/>
              <a:t>1/21/2020</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4776078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3074F12-AA26-4AC8-9962-C36BB8F32554}" type="datetimeFigureOut">
              <a:rPr lang="en-US" smtClean="0"/>
              <a:pPr/>
              <a:t>1/21/2020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342866572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3074F12-AA26-4AC8-9962-C36BB8F32554}" type="datetimeFigureOut">
              <a:rPr lang="en-US" smtClean="0"/>
              <a:pPr/>
              <a:t>1/21/2020</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82CCC60-E8CD-4174-8B1A-7DF615B22EEF}" type="slidenum">
              <a:rPr lang="en-US" smtClean="0"/>
              <a:pPr/>
              <a:t>‹#›</a:t>
            </a:fld>
            <a:endParaRPr lang="en-US"/>
          </a:p>
        </p:txBody>
      </p:sp>
    </p:spTree>
    <p:extLst>
      <p:ext uri="{BB962C8B-B14F-4D97-AF65-F5344CB8AC3E}">
        <p14:creationId xmlns:p14="http://schemas.microsoft.com/office/powerpoint/2010/main" val="8936099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74F12-AA26-4AC8-9962-C36BB8F32554}" type="datetimeFigureOut">
              <a:rPr lang="en-US" smtClean="0"/>
              <a:pPr/>
              <a:t>1/21/2020</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82CCC60-E8CD-4174-8B1A-7DF615B22EEF}" type="slidenum">
              <a:rPr lang="en-US" smtClean="0"/>
              <a:pPr/>
              <a:t>‹#›</a:t>
            </a:fld>
            <a:endParaRPr lang="en-US"/>
          </a:p>
        </p:txBody>
      </p:sp>
    </p:spTree>
    <p:extLst>
      <p:ext uri="{BB962C8B-B14F-4D97-AF65-F5344CB8AC3E}">
        <p14:creationId xmlns:p14="http://schemas.microsoft.com/office/powerpoint/2010/main" val="19440393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1212490" y="2512770"/>
            <a:ext cx="7787955" cy="610820"/>
          </a:xfrm>
        </p:spPr>
        <p:txBody>
          <a:bodyPr>
            <a:noAutofit/>
          </a:bodyPr>
          <a:lstStyle/>
          <a:p>
            <a:pPr algn="ctr" rtl="1"/>
            <a:r>
              <a:rPr lang="fa-IR" sz="4000" dirty="0">
                <a:cs typeface="B Nazanin" panose="00000400000000000000" pitchFamily="2" charset="-78"/>
              </a:rPr>
              <a:t>گزارش عملکرد و برنامه هاي </a:t>
            </a:r>
            <a:br>
              <a:rPr lang="fa-IR" sz="4000" dirty="0">
                <a:cs typeface="B Nazanin" panose="00000400000000000000" pitchFamily="2" charset="-78"/>
              </a:rPr>
            </a:br>
            <a:r>
              <a:rPr lang="fa-IR" sz="4000" dirty="0">
                <a:cs typeface="B Nazanin" panose="00000400000000000000" pitchFamily="2" charset="-78"/>
              </a:rPr>
              <a:t>واحد « امور پروژه ها »</a:t>
            </a:r>
            <a:br>
              <a:rPr lang="fa-IR" sz="4000" dirty="0">
                <a:cs typeface="B Nazanin" panose="00000400000000000000" pitchFamily="2" charset="-78"/>
              </a:rPr>
            </a:br>
            <a:r>
              <a:rPr lang="fa-IR" sz="4000" dirty="0" smtClean="0">
                <a:cs typeface="B Nazanin" panose="00000400000000000000" pitchFamily="2" charset="-78"/>
              </a:rPr>
              <a:t>دی1398</a:t>
            </a:r>
            <a:endParaRPr lang="en-US" sz="4000" dirty="0">
              <a:cs typeface="B Nazanin" panose="00000400000000000000" pitchFamily="2" charset="-78"/>
            </a:endParaRPr>
          </a:p>
        </p:txBody>
      </p:sp>
    </p:spTree>
    <p:extLst>
      <p:ext uri="{BB962C8B-B14F-4D97-AF65-F5344CB8AC3E}">
        <p14:creationId xmlns:p14="http://schemas.microsoft.com/office/powerpoint/2010/main" val="2319501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pic>
        <p:nvPicPr>
          <p:cNvPr id="5" name="Picture 4">
            <a:extLst>
              <a:ext uri="{FF2B5EF4-FFF2-40B4-BE49-F238E27FC236}">
                <a16:creationId xmlns="" xmlns:a16="http://schemas.microsoft.com/office/drawing/2014/main" id="{D0D39E47-5C28-4D83-AA7C-299D13DFABC1}"/>
              </a:ext>
            </a:extLst>
          </p:cNvPr>
          <p:cNvPicPr>
            <a:picLocks noChangeAspect="1"/>
          </p:cNvPicPr>
          <p:nvPr/>
        </p:nvPicPr>
        <p:blipFill>
          <a:blip r:embed="rId2"/>
          <a:stretch>
            <a:fillRect/>
          </a:stretch>
        </p:blipFill>
        <p:spPr>
          <a:xfrm>
            <a:off x="2217763" y="1529055"/>
            <a:ext cx="4708473" cy="4862681"/>
          </a:xfrm>
          <a:prstGeom prst="rect">
            <a:avLst/>
          </a:prstGeom>
        </p:spPr>
      </p:pic>
    </p:spTree>
    <p:extLst>
      <p:ext uri="{BB962C8B-B14F-4D97-AF65-F5344CB8AC3E}">
        <p14:creationId xmlns:p14="http://schemas.microsoft.com/office/powerpoint/2010/main" val="13346136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r" rtl="1"/>
            <a:r>
              <a:rPr lang="fa-IR" sz="2400" dirty="0">
                <a:solidFill>
                  <a:srgbClr val="0070C0"/>
                </a:solidFill>
                <a:cs typeface="B Titr" panose="00000700000000000000" pitchFamily="2" charset="-78"/>
              </a:rPr>
              <a:t>گزارش ماه – پروژه های استقرار پورتال</a:t>
            </a:r>
            <a:endParaRPr lang="en-US" sz="2400" dirty="0">
              <a:solidFill>
                <a:srgbClr val="0070C0"/>
              </a:solidFill>
              <a:cs typeface="B Titr" panose="00000700000000000000" pitchFamily="2" charset="-78"/>
            </a:endParaRPr>
          </a:p>
        </p:txBody>
      </p:sp>
      <p:pic>
        <p:nvPicPr>
          <p:cNvPr id="4" name="Picture 3">
            <a:extLst>
              <a:ext uri="{FF2B5EF4-FFF2-40B4-BE49-F238E27FC236}">
                <a16:creationId xmlns="" xmlns:a16="http://schemas.microsoft.com/office/drawing/2014/main" id="{4B6D42FA-B440-4256-BC0E-9854F556F9F8}"/>
              </a:ext>
            </a:extLst>
          </p:cNvPr>
          <p:cNvPicPr>
            <a:picLocks noChangeAspect="1"/>
          </p:cNvPicPr>
          <p:nvPr/>
        </p:nvPicPr>
        <p:blipFill>
          <a:blip r:embed="rId2"/>
          <a:stretch>
            <a:fillRect/>
          </a:stretch>
        </p:blipFill>
        <p:spPr>
          <a:xfrm>
            <a:off x="-26903" y="620688"/>
            <a:ext cx="9144000" cy="3614129"/>
          </a:xfrm>
          <a:prstGeom prst="rect">
            <a:avLst/>
          </a:prstGeom>
        </p:spPr>
      </p:pic>
    </p:spTree>
    <p:extLst>
      <p:ext uri="{BB962C8B-B14F-4D97-AF65-F5344CB8AC3E}">
        <p14:creationId xmlns:p14="http://schemas.microsoft.com/office/powerpoint/2010/main" val="36627261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2348777587"/>
              </p:ext>
            </p:extLst>
          </p:nvPr>
        </p:nvGraphicFramePr>
        <p:xfrm>
          <a:off x="0" y="2834640"/>
          <a:ext cx="9144000" cy="4236720"/>
        </p:xfrm>
        <a:graphic>
          <a:graphicData uri="http://schemas.openxmlformats.org/drawingml/2006/table">
            <a:tbl>
              <a:tblPr firstRow="1" bandRow="1">
                <a:tableStyleId>{5C22544A-7EE6-4342-B048-85BDC9FD1C3A}</a:tableStyleId>
              </a:tblPr>
              <a:tblGrid>
                <a:gridCol w="1867823">
                  <a:extLst>
                    <a:ext uri="{9D8B030D-6E8A-4147-A177-3AD203B41FA5}">
                      <a16:colId xmlns="" xmlns:a16="http://schemas.microsoft.com/office/drawing/2014/main" val="2743818203"/>
                    </a:ext>
                  </a:extLst>
                </a:gridCol>
                <a:gridCol w="1478693">
                  <a:extLst>
                    <a:ext uri="{9D8B030D-6E8A-4147-A177-3AD203B41FA5}">
                      <a16:colId xmlns="" xmlns:a16="http://schemas.microsoft.com/office/drawing/2014/main" val="20000"/>
                    </a:ext>
                  </a:extLst>
                </a:gridCol>
                <a:gridCol w="4465844">
                  <a:extLst>
                    <a:ext uri="{9D8B030D-6E8A-4147-A177-3AD203B41FA5}">
                      <a16:colId xmlns="" xmlns:a16="http://schemas.microsoft.com/office/drawing/2014/main" val="624471155"/>
                    </a:ext>
                  </a:extLst>
                </a:gridCol>
                <a:gridCol w="1331640">
                  <a:extLst>
                    <a:ext uri="{9D8B030D-6E8A-4147-A177-3AD203B41FA5}">
                      <a16:colId xmlns="" xmlns:a16="http://schemas.microsoft.com/office/drawing/2014/main" val="20002"/>
                    </a:ext>
                  </a:extLst>
                </a:gridCol>
              </a:tblGrid>
              <a:tr h="0">
                <a:tc>
                  <a:txBody>
                    <a:bodyPr/>
                    <a:lstStyle/>
                    <a:p>
                      <a:pPr algn="ctr" rtl="1"/>
                      <a:r>
                        <a:rPr lang="fa-IR" sz="1600" dirty="0">
                          <a:cs typeface="B Nazanin" panose="00000400000000000000" pitchFamily="2" charset="-78"/>
                        </a:rPr>
                        <a:t>نفر/ساعت صرف شده</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واحد های مجری</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فعالیت</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600" dirty="0">
                          <a:cs typeface="B Titr" panose="00000700000000000000" pitchFamily="2" charset="-78"/>
                        </a:rPr>
                        <a:t>پروژه</a:t>
                      </a:r>
                      <a:endParaRPr lang="en-US" sz="1600" dirty="0">
                        <a:cs typeface="B Titr" panose="00000700000000000000" pitchFamily="2" charset="-78"/>
                      </a:endParaRPr>
                    </a:p>
                  </a:txBody>
                  <a:tcPr/>
                </a:tc>
                <a:extLst>
                  <a:ext uri="{0D108BD9-81ED-4DB2-BD59-A6C34878D82A}">
                    <a16:rowId xmlns="" xmlns:a16="http://schemas.microsoft.com/office/drawing/2014/main" val="10000"/>
                  </a:ext>
                </a:extLst>
              </a:tr>
              <a:tr h="27432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59 نفر ساعت برای این مورد و خدمات کانورت و توسعه نرم افزار</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توسعه</a:t>
                      </a:r>
                    </a:p>
                  </a:txBody>
                  <a:tcPr anchor="ctr">
                    <a:solidFill>
                      <a:schemeClr val="accent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تحلیل، طراحی و پیاده سازی فرآیند های الکترونیکی</a:t>
                      </a: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solidFill>
                      <a:schemeClr val="accent2">
                        <a:lumMod val="20000"/>
                        <a:lumOff val="80000"/>
                      </a:schemeClr>
                    </a:solidFill>
                  </a:tcPr>
                </a:tc>
                <a:tc rowSpan="8">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dirty="0">
                          <a:solidFill>
                            <a:sysClr val="windowText" lastClr="000000"/>
                          </a:solidFill>
                          <a:cs typeface="B Nazanin" panose="00000400000000000000" pitchFamily="2" charset="-78"/>
                        </a:rPr>
                        <a:t>پروژه استقرار زیر ساخت سامان سوئیت در سازمان فضایی</a:t>
                      </a: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dirty="0">
                          <a:solidFill>
                            <a:sysClr val="windowText" lastClr="000000"/>
                          </a:solidFill>
                          <a:cs typeface="B Nazanin" panose="00000400000000000000" pitchFamily="2" charset="-78"/>
                        </a:rPr>
                        <a:t>ایران</a:t>
                      </a:r>
                      <a:endParaRPr lang="fa-IR" sz="2000" dirty="0">
                        <a:solidFill>
                          <a:sysClr val="windowText" lastClr="000000"/>
                        </a:solidFill>
                        <a:cs typeface="B Nazanin" panose="00000400000000000000" pitchFamily="2" charset="-78"/>
                      </a:endParaRPr>
                    </a:p>
                  </a:txBody>
                  <a:tcPr anchor="ctr"/>
                </a:tc>
                <a:extLst>
                  <a:ext uri="{0D108BD9-81ED-4DB2-BD59-A6C34878D82A}">
                    <a16:rowId xmlns="" xmlns:a16="http://schemas.microsoft.com/office/drawing/2014/main" val="2776078083"/>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 نفر ساعت</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1559276603"/>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3 نفر ساعت</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ارائه خدمات آموزش</a:t>
                      </a:r>
                    </a:p>
                  </a:txBody>
                  <a:tcPr anchor="ctr">
                    <a:solidFill>
                      <a:schemeClr val="tx2">
                        <a:lumMod val="20000"/>
                        <a:lumOff val="80000"/>
                      </a:schemeClr>
                    </a:solidFill>
                  </a:tcP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1264144071"/>
                  </a:ext>
                </a:extLst>
              </a:tr>
              <a:tr h="18288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تیم موبایل</a:t>
                      </a:r>
                    </a:p>
                  </a:txBody>
                  <a:tcPr>
                    <a:solidFill>
                      <a:schemeClr val="tx2">
                        <a:lumMod val="20000"/>
                        <a:lumOff val="80000"/>
                      </a:schemeClr>
                    </a:solidFill>
                  </a:tcPr>
                </a:tc>
                <a:tc rowSpan="3">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توسعه نرم افزار موبایل</a:t>
                      </a: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2645715483"/>
                  </a:ext>
                </a:extLst>
              </a:tr>
              <a:tr h="18288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59 نفر ساعت برای این مورد و خدمات کانورت و توسعه نرم افزار</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توسعه</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417134101"/>
                  </a:ext>
                </a:extLst>
              </a:tr>
              <a:tr h="18288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 نفر ساعت</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2615782266"/>
                  </a:ext>
                </a:extLst>
              </a:tr>
              <a:tr h="18288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توسعه</a:t>
                      </a:r>
                    </a:p>
                  </a:txBody>
                  <a:tcPr anchor="ctr">
                    <a:solidFill>
                      <a:schemeClr val="tx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پروپوزال</a:t>
                      </a:r>
                      <a:r>
                        <a:rPr lang="fa-IR" sz="1600" baseline="0" dirty="0" smtClean="0">
                          <a:solidFill>
                            <a:sysClr val="windowText" lastClr="000000"/>
                          </a:solidFill>
                          <a:cs typeface="B Nazanin" panose="00000400000000000000" pitchFamily="2" charset="-78"/>
                        </a:rPr>
                        <a:t> ماژول مسابقه عکاسی</a:t>
                      </a: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ysClr val="windowText" lastClr="000000"/>
                        </a:solidFill>
                        <a:cs typeface="B Nazanin" panose="00000400000000000000" pitchFamily="2" charset="-78"/>
                      </a:endParaRPr>
                    </a:p>
                  </a:txBody>
                  <a:tcPr anchor="ctr"/>
                </a:tc>
              </a:tr>
              <a:tr h="18288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4 نفر ساعت</a:t>
                      </a: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ysClr val="windowText" lastClr="000000"/>
                        </a:solidFill>
                        <a:cs typeface="B Nazanin" panose="00000400000000000000" pitchFamily="2" charset="-78"/>
                      </a:endParaRPr>
                    </a:p>
                  </a:txBody>
                  <a:tcPr anchor="ctr"/>
                </a:tc>
              </a:tr>
            </a:tbl>
          </a:graphicData>
        </a:graphic>
      </p:graphicFrame>
      <p:sp>
        <p:nvSpPr>
          <p:cNvPr id="4" name="TextBox 3">
            <a:extLst>
              <a:ext uri="{FF2B5EF4-FFF2-40B4-BE49-F238E27FC236}">
                <a16:creationId xmlns="" xmlns:a16="http://schemas.microsoft.com/office/drawing/2014/main" id="{3252E9EB-284B-4126-ABC1-981AC98B1C20}"/>
              </a:ext>
            </a:extLst>
          </p:cNvPr>
          <p:cNvSpPr txBox="1"/>
          <p:nvPr/>
        </p:nvSpPr>
        <p:spPr>
          <a:xfrm>
            <a:off x="1" y="1172928"/>
            <a:ext cx="9143999" cy="1477328"/>
          </a:xfrm>
          <a:prstGeom prst="rect">
            <a:avLst/>
          </a:prstGeom>
          <a:noFill/>
        </p:spPr>
        <p:txBody>
          <a:bodyPr wrap="square" rtlCol="0">
            <a:spAutoFit/>
          </a:bodyPr>
          <a:lstStyle/>
          <a:p>
            <a:pPr algn="r" rtl="1"/>
            <a:r>
              <a:rPr lang="fa-IR" dirty="0">
                <a:cs typeface="B Nazanin" panose="00000400000000000000" pitchFamily="2" charset="-78"/>
              </a:rPr>
              <a:t>تاریخ شروع قرارداد: </a:t>
            </a:r>
            <a:r>
              <a:rPr lang="fa-IR" b="1" dirty="0">
                <a:cs typeface="B Nazanin" panose="00000400000000000000" pitchFamily="2" charset="-78"/>
              </a:rPr>
              <a:t>1398/04/22 	</a:t>
            </a:r>
            <a:r>
              <a:rPr lang="fa-IR" dirty="0">
                <a:cs typeface="B Nazanin" panose="00000400000000000000" pitchFamily="2" charset="-78"/>
              </a:rPr>
              <a:t>تاریخ خاتمه قرارداد: </a:t>
            </a:r>
            <a:r>
              <a:rPr lang="fa-IR" b="1" dirty="0">
                <a:cs typeface="B Nazanin" panose="00000400000000000000" pitchFamily="2" charset="-78"/>
              </a:rPr>
              <a:t>1399/04/22 	</a:t>
            </a:r>
            <a:r>
              <a:rPr lang="fa-IR" dirty="0">
                <a:cs typeface="B Nazanin" panose="00000400000000000000" pitchFamily="2" charset="-78"/>
              </a:rPr>
              <a:t>تاریخ خاتمه پروژه قراردادی: </a:t>
            </a:r>
            <a:r>
              <a:rPr lang="fa-IR" b="1" dirty="0">
                <a:cs typeface="B Nazanin" panose="00000400000000000000" pitchFamily="2" charset="-78"/>
              </a:rPr>
              <a:t>1398/08/30</a:t>
            </a:r>
            <a:r>
              <a:rPr lang="fa-IR" dirty="0">
                <a:cs typeface="B Nazanin" panose="00000400000000000000" pitchFamily="2" charset="-78"/>
              </a:rPr>
              <a:t> </a:t>
            </a:r>
          </a:p>
          <a:p>
            <a:pPr algn="r" rtl="1"/>
            <a:r>
              <a:rPr lang="fa-IR" dirty="0">
                <a:cs typeface="B Nazanin" panose="00000400000000000000" pitchFamily="2" charset="-78"/>
              </a:rPr>
              <a:t>تاریخ بهره برداری از پروژه</a:t>
            </a:r>
            <a:r>
              <a:rPr lang="fa-IR" dirty="0" smtClean="0">
                <a:cs typeface="B Nazanin" panose="00000400000000000000" pitchFamily="2" charset="-78"/>
              </a:rPr>
              <a:t>: </a:t>
            </a:r>
            <a:r>
              <a:rPr lang="fa-IR" b="1" dirty="0" smtClean="0">
                <a:cs typeface="B Nazanin" panose="00000400000000000000" pitchFamily="2" charset="-78"/>
              </a:rPr>
              <a:t>1398/11/14</a:t>
            </a:r>
            <a:endParaRPr lang="fa-IR" b="1" dirty="0">
              <a:cs typeface="B Nazanin" panose="00000400000000000000" pitchFamily="2" charset="-78"/>
            </a:endParaRPr>
          </a:p>
          <a:p>
            <a:pPr algn="r" rtl="1"/>
            <a:r>
              <a:rPr lang="fa-IR" dirty="0">
                <a:cs typeface="B Nazanin" panose="00000400000000000000" pitchFamily="2" charset="-78"/>
              </a:rPr>
              <a:t>درصد پیشرفت پروژه : </a:t>
            </a:r>
            <a:r>
              <a:rPr lang="fa-IR" dirty="0" smtClean="0">
                <a:cs typeface="B Nazanin" panose="00000400000000000000" pitchFamily="2" charset="-78"/>
              </a:rPr>
              <a:t>80%</a:t>
            </a:r>
            <a:endParaRPr lang="fa-IR" b="1" dirty="0">
              <a:cs typeface="B Nazanin" panose="00000400000000000000" pitchFamily="2" charset="-78"/>
            </a:endParaRPr>
          </a:p>
          <a:p>
            <a:pPr algn="r" rtl="1"/>
            <a:r>
              <a:rPr lang="fa-IR" dirty="0">
                <a:cs typeface="B Nazanin" panose="00000400000000000000" pitchFamily="2" charset="-78"/>
              </a:rPr>
              <a:t>موضوع اصلی پروژه</a:t>
            </a:r>
            <a:r>
              <a:rPr lang="fa-IR" dirty="0" smtClean="0">
                <a:cs typeface="B Nazanin" panose="00000400000000000000" pitchFamily="2" charset="-78"/>
              </a:rPr>
              <a:t>: عدم همکاری عوامل کارفرما در بهره برداری از پروژه می باشد که با نظر مدیران مجموعه کارفرما احتمالا زمانبندی معینی برای طرفین تعیین خواهد شد.</a:t>
            </a:r>
            <a:endParaRPr lang="en-US" dirty="0">
              <a:cs typeface="B Nazanin" panose="00000400000000000000" pitchFamily="2" charset="-78"/>
            </a:endParaRPr>
          </a:p>
        </p:txBody>
      </p:sp>
    </p:spTree>
    <p:extLst>
      <p:ext uri="{BB962C8B-B14F-4D97-AF65-F5344CB8AC3E}">
        <p14:creationId xmlns:p14="http://schemas.microsoft.com/office/powerpoint/2010/main" val="10042036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2155997936"/>
              </p:ext>
            </p:extLst>
          </p:nvPr>
        </p:nvGraphicFramePr>
        <p:xfrm>
          <a:off x="0" y="1197402"/>
          <a:ext cx="9143999" cy="5879468"/>
        </p:xfrm>
        <a:graphic>
          <a:graphicData uri="http://schemas.openxmlformats.org/drawingml/2006/table">
            <a:tbl>
              <a:tblPr firstRow="1" bandRow="1">
                <a:tableStyleId>{5C22544A-7EE6-4342-B048-85BDC9FD1C3A}</a:tableStyleId>
              </a:tblPr>
              <a:tblGrid>
                <a:gridCol w="611560">
                  <a:extLst>
                    <a:ext uri="{9D8B030D-6E8A-4147-A177-3AD203B41FA5}">
                      <a16:colId xmlns="" xmlns:a16="http://schemas.microsoft.com/office/drawing/2014/main" val="2071912919"/>
                    </a:ext>
                  </a:extLst>
                </a:gridCol>
                <a:gridCol w="4824536">
                  <a:extLst>
                    <a:ext uri="{9D8B030D-6E8A-4147-A177-3AD203B41FA5}">
                      <a16:colId xmlns="" xmlns:a16="http://schemas.microsoft.com/office/drawing/2014/main" val="2743818203"/>
                    </a:ext>
                  </a:extLst>
                </a:gridCol>
                <a:gridCol w="2304256">
                  <a:extLst>
                    <a:ext uri="{9D8B030D-6E8A-4147-A177-3AD203B41FA5}">
                      <a16:colId xmlns="" xmlns:a16="http://schemas.microsoft.com/office/drawing/2014/main" val="20000"/>
                    </a:ext>
                  </a:extLst>
                </a:gridCol>
                <a:gridCol w="1403647">
                  <a:extLst>
                    <a:ext uri="{9D8B030D-6E8A-4147-A177-3AD203B41FA5}">
                      <a16:colId xmlns="" xmlns:a16="http://schemas.microsoft.com/office/drawing/2014/main" val="20002"/>
                    </a:ext>
                  </a:extLst>
                </a:gridCol>
              </a:tblGrid>
              <a:tr h="604089">
                <a:tc>
                  <a:txBody>
                    <a:bodyPr/>
                    <a:lstStyle/>
                    <a:p>
                      <a:pPr algn="ctr" rtl="1"/>
                      <a:r>
                        <a:rPr lang="fa-IR" sz="1600" dirty="0">
                          <a:cs typeface="B Nazanin" panose="00000400000000000000" pitchFamily="2" charset="-78"/>
                        </a:rPr>
                        <a:t>تحقق</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عملکرد ماه</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هدف ماه</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600" dirty="0">
                          <a:cs typeface="B Titr" panose="00000700000000000000" pitchFamily="2" charset="-78"/>
                        </a:rPr>
                        <a:t>برنامه / فعالیت / اقدام</a:t>
                      </a:r>
                      <a:endParaRPr lang="en-US" sz="1600" dirty="0">
                        <a:cs typeface="B Titr" panose="00000700000000000000" pitchFamily="2" charset="-78"/>
                      </a:endParaRPr>
                    </a:p>
                  </a:txBody>
                  <a:tcPr/>
                </a:tc>
                <a:extLst>
                  <a:ext uri="{0D108BD9-81ED-4DB2-BD59-A6C34878D82A}">
                    <a16:rowId xmlns="" xmlns:a16="http://schemas.microsoft.com/office/drawing/2014/main" val="10000"/>
                  </a:ext>
                </a:extLst>
              </a:tr>
              <a:tr h="5056508">
                <a:tc>
                  <a:txBody>
                    <a:bodyPr/>
                    <a:lstStyle/>
                    <a:p>
                      <a:pPr marL="0" indent="0" algn="ctr" rtl="1">
                        <a:buFont typeface="Arial" panose="020B0604020202020204" pitchFamily="34" charset="0"/>
                        <a:buNone/>
                      </a:pPr>
                      <a:endParaRPr lang="fa-IR" sz="1400" baseline="0" dirty="0">
                        <a:solidFill>
                          <a:srgbClr val="0070C0"/>
                        </a:solidFill>
                        <a:cs typeface="B Nazanin" panose="00000400000000000000" pitchFamily="2" charset="-78"/>
                      </a:endParaRPr>
                    </a:p>
                  </a:txBody>
                  <a:tcPr/>
                </a:tc>
                <a:tc>
                  <a:txBody>
                    <a:bodyPr/>
                    <a:lstStyle/>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550" b="1" baseline="0" dirty="0" smtClean="0">
                          <a:solidFill>
                            <a:schemeClr val="tx1"/>
                          </a:solidFill>
                          <a:cs typeface="B Nazanin" panose="00000400000000000000" pitchFamily="2" charset="-78"/>
                        </a:rPr>
                        <a:t>مالی : </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550" kern="1200" baseline="0" dirty="0" smtClean="0">
                          <a:solidFill>
                            <a:srgbClr val="0070C0"/>
                          </a:solidFill>
                          <a:latin typeface="+mn-lt"/>
                          <a:ea typeface="+mn-ea"/>
                          <a:cs typeface="B Nazanin" panose="00000400000000000000" pitchFamily="2" charset="-78"/>
                        </a:rPr>
                        <a:t>پیش پرداخت مرحله اول پرداخت شد</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550" kern="1200" baseline="0" dirty="0" smtClean="0">
                          <a:solidFill>
                            <a:srgbClr val="0070C0"/>
                          </a:solidFill>
                          <a:latin typeface="+mn-lt"/>
                          <a:ea typeface="+mn-ea"/>
                          <a:cs typeface="B Nazanin" panose="00000400000000000000" pitchFamily="2" charset="-78"/>
                        </a:rPr>
                        <a:t>در تاریخ  9/25  دو صورت وضعیت فاز 3(موبایل) و 4 (خدمات و پورتال)ارسال شده است.</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550" b="1" baseline="0" dirty="0" smtClean="0">
                          <a:solidFill>
                            <a:schemeClr val="tx1"/>
                          </a:solidFill>
                          <a:cs typeface="B Nazanin" panose="00000400000000000000" pitchFamily="2" charset="-78"/>
                        </a:rPr>
                        <a:t>قراردادی: </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550" b="1" baseline="0" dirty="0" smtClean="0">
                          <a:solidFill>
                            <a:schemeClr val="tx1"/>
                          </a:solidFill>
                          <a:cs typeface="B Nazanin" panose="00000400000000000000" pitchFamily="2" charset="-78"/>
                        </a:rPr>
                        <a:t>اجرایی:</a:t>
                      </a:r>
                      <a:r>
                        <a:rPr lang="fa-IR" sz="1550" b="1" baseline="0" dirty="0" smtClean="0">
                          <a:solidFill>
                            <a:srgbClr val="0070C0"/>
                          </a:solidFill>
                          <a:cs typeface="B Nazanin" panose="00000400000000000000" pitchFamily="2" charset="-78"/>
                        </a:rPr>
                        <a:t> </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550" b="0" baseline="0" dirty="0" smtClean="0">
                          <a:solidFill>
                            <a:srgbClr val="0070C0"/>
                          </a:solidFill>
                          <a:cs typeface="B Nazanin" panose="00000400000000000000" pitchFamily="2" charset="-78"/>
                        </a:rPr>
                        <a:t>نسخه نهایی موبایل</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550" b="0" baseline="0" dirty="0" smtClean="0">
                          <a:solidFill>
                            <a:srgbClr val="0070C0"/>
                          </a:solidFill>
                          <a:cs typeface="B Nazanin" panose="00000400000000000000" pitchFamily="2" charset="-78"/>
                        </a:rPr>
                        <a:t>خدمات الکترونیکی(مستندات شناخت دارای نواقصی بودند که تکمیل و ارایه شده است.)</a:t>
                      </a:r>
                    </a:p>
                  </a:txBody>
                  <a:tcPr/>
                </a:tc>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dirty="0" smtClean="0">
                          <a:solidFill>
                            <a:srgbClr val="0070C0"/>
                          </a:solidFill>
                          <a:cs typeface="B Nazanin" panose="00000400000000000000" pitchFamily="2" charset="-78"/>
                        </a:rPr>
                        <a:t>نهایی سازی خدمات الکترونیکی باقی مانده تعیین شده در قرارداد</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dirty="0" smtClean="0">
                          <a:solidFill>
                            <a:srgbClr val="0070C0"/>
                          </a:solidFill>
                          <a:cs typeface="B Nazanin" panose="00000400000000000000" pitchFamily="2" charset="-78"/>
                        </a:rPr>
                        <a:t>تعریف و اعطای حق دسترسی به کاربران و گروه های کاربری اعلام شده</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dirty="0" smtClean="0">
                          <a:solidFill>
                            <a:srgbClr val="0070C0"/>
                          </a:solidFill>
                          <a:cs typeface="B Nazanin" panose="00000400000000000000" pitchFamily="2" charset="-78"/>
                        </a:rPr>
                        <a:t>خاتمه توسعه نرم افزار موبایل</a:t>
                      </a:r>
                      <a:r>
                        <a:rPr lang="fa-IR" sz="1600" baseline="0" dirty="0" smtClean="0">
                          <a:solidFill>
                            <a:srgbClr val="0070C0"/>
                          </a:solidFill>
                          <a:cs typeface="B Nazanin" panose="00000400000000000000" pitchFamily="2" charset="-78"/>
                        </a:rPr>
                        <a:t> سازمان فضایی ایران</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ارائه خدمات آموزش</a:t>
                      </a:r>
                      <a:endParaRPr lang="fa-IR" sz="1600" dirty="0" smtClean="0">
                        <a:solidFill>
                          <a:srgbClr val="0070C0"/>
                        </a:solidFill>
                        <a:cs typeface="B Nazanin" panose="00000400000000000000" pitchFamily="2" charset="-78"/>
                      </a:endParaRP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dirty="0">
                        <a:solidFill>
                          <a:srgbClr val="0070C0"/>
                        </a:solidFill>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kern="1200" dirty="0" smtClean="0">
                          <a:solidFill>
                            <a:sysClr val="windowText" lastClr="000000"/>
                          </a:solidFill>
                          <a:latin typeface="+mn-lt"/>
                          <a:ea typeface="+mn-ea"/>
                          <a:cs typeface="B Nazanin" panose="00000400000000000000" pitchFamily="2" charset="-78"/>
                        </a:rPr>
                        <a:t>اجرای </a:t>
                      </a:r>
                      <a:r>
                        <a:rPr lang="fa-IR" sz="1800" kern="1200" dirty="0">
                          <a:solidFill>
                            <a:sysClr val="windowText" lastClr="000000"/>
                          </a:solidFill>
                          <a:latin typeface="+mn-lt"/>
                          <a:ea typeface="+mn-ea"/>
                          <a:cs typeface="B Nazanin" panose="00000400000000000000" pitchFamily="2" charset="-78"/>
                        </a:rPr>
                        <a:t>پروژه سازمان فضایی</a:t>
                      </a:r>
                    </a:p>
                  </a:txBody>
                  <a:tcPr/>
                </a:tc>
                <a:extLst>
                  <a:ext uri="{0D108BD9-81ED-4DB2-BD59-A6C34878D82A}">
                    <a16:rowId xmlns="" xmlns:a16="http://schemas.microsoft.com/office/drawing/2014/main" val="2045926108"/>
                  </a:ext>
                </a:extLst>
              </a:tr>
            </a:tbl>
          </a:graphicData>
        </a:graphic>
      </p:graphicFrame>
    </p:spTree>
    <p:extLst>
      <p:ext uri="{BB962C8B-B14F-4D97-AF65-F5344CB8AC3E}">
        <p14:creationId xmlns:p14="http://schemas.microsoft.com/office/powerpoint/2010/main" val="24829057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2340525027"/>
              </p:ext>
            </p:extLst>
          </p:nvPr>
        </p:nvGraphicFramePr>
        <p:xfrm>
          <a:off x="0" y="3645024"/>
          <a:ext cx="9144000" cy="1839561"/>
        </p:xfrm>
        <a:graphic>
          <a:graphicData uri="http://schemas.openxmlformats.org/drawingml/2006/table">
            <a:tbl>
              <a:tblPr firstRow="1" bandRow="1">
                <a:tableStyleId>{5C22544A-7EE6-4342-B048-85BDC9FD1C3A}</a:tableStyleId>
              </a:tblPr>
              <a:tblGrid>
                <a:gridCol w="1867823">
                  <a:extLst>
                    <a:ext uri="{9D8B030D-6E8A-4147-A177-3AD203B41FA5}">
                      <a16:colId xmlns="" xmlns:a16="http://schemas.microsoft.com/office/drawing/2014/main" val="2743818203"/>
                    </a:ext>
                  </a:extLst>
                </a:gridCol>
                <a:gridCol w="1478693">
                  <a:extLst>
                    <a:ext uri="{9D8B030D-6E8A-4147-A177-3AD203B41FA5}">
                      <a16:colId xmlns="" xmlns:a16="http://schemas.microsoft.com/office/drawing/2014/main" val="20000"/>
                    </a:ext>
                  </a:extLst>
                </a:gridCol>
                <a:gridCol w="4585774">
                  <a:extLst>
                    <a:ext uri="{9D8B030D-6E8A-4147-A177-3AD203B41FA5}">
                      <a16:colId xmlns="" xmlns:a16="http://schemas.microsoft.com/office/drawing/2014/main" val="624471155"/>
                    </a:ext>
                  </a:extLst>
                </a:gridCol>
                <a:gridCol w="1211710">
                  <a:extLst>
                    <a:ext uri="{9D8B030D-6E8A-4147-A177-3AD203B41FA5}">
                      <a16:colId xmlns="" xmlns:a16="http://schemas.microsoft.com/office/drawing/2014/main" val="20002"/>
                    </a:ext>
                  </a:extLst>
                </a:gridCol>
              </a:tblGrid>
              <a:tr h="376521">
                <a:tc>
                  <a:txBody>
                    <a:bodyPr/>
                    <a:lstStyle/>
                    <a:p>
                      <a:pPr algn="ctr" rtl="1"/>
                      <a:r>
                        <a:rPr lang="fa-IR" sz="1600" dirty="0">
                          <a:cs typeface="B Nazanin" panose="00000400000000000000" pitchFamily="2" charset="-78"/>
                        </a:rPr>
                        <a:t>نفر/ساعت صرف شده</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واحد های مجری</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فعالیت</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600" dirty="0">
                          <a:cs typeface="B Titr" panose="00000700000000000000" pitchFamily="2" charset="-78"/>
                        </a:rPr>
                        <a:t>پروژه</a:t>
                      </a:r>
                      <a:endParaRPr lang="en-US" sz="1600" dirty="0">
                        <a:cs typeface="B Titr" panose="00000700000000000000" pitchFamily="2" charset="-78"/>
                      </a:endParaRPr>
                    </a:p>
                  </a:txBody>
                  <a:tcPr/>
                </a:tc>
                <a:extLst>
                  <a:ext uri="{0D108BD9-81ED-4DB2-BD59-A6C34878D82A}">
                    <a16:rowId xmlns="" xmlns:a16="http://schemas.microsoft.com/office/drawing/2014/main" val="10000"/>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kern="1200" dirty="0" smtClean="0">
                          <a:solidFill>
                            <a:sysClr val="windowText" lastClr="000000"/>
                          </a:solidFill>
                          <a:latin typeface="+mn-lt"/>
                          <a:ea typeface="+mn-ea"/>
                          <a:cs typeface="B Nazanin" panose="00000400000000000000" pitchFamily="2" charset="-78"/>
                        </a:rPr>
                        <a:t>45 نفر ساعت</a:t>
                      </a:r>
                      <a:endParaRPr lang="en-US" sz="1600" kern="1200" dirty="0">
                        <a:solidFill>
                          <a:sysClr val="windowText" lastClr="000000"/>
                        </a:solidFill>
                        <a:latin typeface="+mn-lt"/>
                        <a:ea typeface="+mn-ea"/>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طراحی وب</a:t>
                      </a:r>
                    </a:p>
                  </a:txBody>
                  <a:tcPr anchor="ctr">
                    <a:solidFill>
                      <a:schemeClr val="tx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پورتال اینترنتی فارسی و انگلیسی</a:t>
                      </a:r>
                    </a:p>
                  </a:txBody>
                  <a:tcPr anchor="ctr">
                    <a:solidFill>
                      <a:schemeClr val="tx2">
                        <a:lumMod val="20000"/>
                        <a:lumOff val="80000"/>
                      </a:schemeClr>
                    </a:solidFill>
                  </a:tcPr>
                </a:tc>
                <a:tc rowSpan="4">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dirty="0">
                          <a:solidFill>
                            <a:sysClr val="windowText" lastClr="000000"/>
                          </a:solidFill>
                          <a:cs typeface="B Nazanin" panose="00000400000000000000" pitchFamily="2" charset="-78"/>
                        </a:rPr>
                        <a:t>پروژه استقرار زیر ساخت سامان سوئیت در بانک توسعه تعاون</a:t>
                      </a:r>
                      <a:endParaRPr lang="fa-IR" sz="2000" dirty="0">
                        <a:solidFill>
                          <a:sysClr val="windowText" lastClr="000000"/>
                        </a:solidFill>
                        <a:cs typeface="B Nazanin" panose="00000400000000000000" pitchFamily="2" charset="-78"/>
                      </a:endParaRPr>
                    </a:p>
                  </a:txBody>
                  <a:tcPr anchor="ctr"/>
                </a:tc>
                <a:extLst>
                  <a:ext uri="{0D108BD9-81ED-4DB2-BD59-A6C34878D82A}">
                    <a16:rowId xmlns="" xmlns:a16="http://schemas.microsoft.com/office/drawing/2014/main" val="2045926108"/>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 نفر ساعت</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052132704"/>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20 ساعت</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توسعه</a:t>
                      </a:r>
                    </a:p>
                  </a:txBody>
                  <a:tcPr anchor="ctr">
                    <a:solidFill>
                      <a:schemeClr val="accent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راه اندازی ماژول استعلام ضمانت نامه بانکی و شبا</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776078083"/>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10نفر ساعت</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1559276603"/>
                  </a:ext>
                </a:extLst>
              </a:tr>
            </a:tbl>
          </a:graphicData>
        </a:graphic>
      </p:graphicFrame>
      <p:sp>
        <p:nvSpPr>
          <p:cNvPr id="4" name="TextBox 3">
            <a:extLst>
              <a:ext uri="{FF2B5EF4-FFF2-40B4-BE49-F238E27FC236}">
                <a16:creationId xmlns="" xmlns:a16="http://schemas.microsoft.com/office/drawing/2014/main" id="{DED85EF4-ADB5-460B-B309-88BA21258A4D}"/>
              </a:ext>
            </a:extLst>
          </p:cNvPr>
          <p:cNvSpPr txBox="1"/>
          <p:nvPr/>
        </p:nvSpPr>
        <p:spPr>
          <a:xfrm>
            <a:off x="1" y="1172928"/>
            <a:ext cx="9143999" cy="1200329"/>
          </a:xfrm>
          <a:prstGeom prst="rect">
            <a:avLst/>
          </a:prstGeom>
          <a:noFill/>
        </p:spPr>
        <p:txBody>
          <a:bodyPr wrap="square" rtlCol="0">
            <a:spAutoFit/>
          </a:bodyPr>
          <a:lstStyle/>
          <a:p>
            <a:pPr algn="r" rtl="1"/>
            <a:r>
              <a:rPr lang="fa-IR" dirty="0">
                <a:cs typeface="B Nazanin" panose="00000400000000000000" pitchFamily="2" charset="-78"/>
              </a:rPr>
              <a:t>تاریخ شروع قرارداد: </a:t>
            </a:r>
            <a:r>
              <a:rPr lang="fa-IR" b="1" dirty="0">
                <a:cs typeface="B Nazanin" panose="00000400000000000000" pitchFamily="2" charset="-78"/>
              </a:rPr>
              <a:t>1398/04/01	</a:t>
            </a:r>
            <a:r>
              <a:rPr lang="fa-IR" dirty="0">
                <a:cs typeface="B Nazanin" panose="00000400000000000000" pitchFamily="2" charset="-78"/>
              </a:rPr>
              <a:t>تاریخ خاتمه قرارداد: </a:t>
            </a:r>
            <a:r>
              <a:rPr lang="fa-IR" b="1" dirty="0">
                <a:cs typeface="B Nazanin" panose="00000400000000000000" pitchFamily="2" charset="-78"/>
              </a:rPr>
              <a:t>         	</a:t>
            </a:r>
            <a:r>
              <a:rPr lang="fa-IR" dirty="0">
                <a:cs typeface="B Nazanin" panose="00000400000000000000" pitchFamily="2" charset="-78"/>
              </a:rPr>
              <a:t>تاریخ خاتمه پروژه قراردادی: </a:t>
            </a:r>
            <a:r>
              <a:rPr lang="fa-IR" b="1" dirty="0">
                <a:cs typeface="B Nazanin" panose="00000400000000000000" pitchFamily="2" charset="-78"/>
              </a:rPr>
              <a:t>1398/07/30</a:t>
            </a:r>
            <a:r>
              <a:rPr lang="fa-IR" dirty="0">
                <a:cs typeface="B Nazanin" panose="00000400000000000000" pitchFamily="2" charset="-78"/>
              </a:rPr>
              <a:t> </a:t>
            </a:r>
          </a:p>
          <a:p>
            <a:pPr algn="r" rtl="1"/>
            <a:r>
              <a:rPr lang="fa-IR" dirty="0">
                <a:cs typeface="B Nazanin" panose="00000400000000000000" pitchFamily="2" charset="-78"/>
              </a:rPr>
              <a:t>تاریخ بهره برداری از پروژه</a:t>
            </a:r>
            <a:r>
              <a:rPr lang="fa-IR" dirty="0" smtClean="0">
                <a:cs typeface="B Nazanin" panose="00000400000000000000" pitchFamily="2" charset="-78"/>
              </a:rPr>
              <a:t>:-</a:t>
            </a:r>
            <a:endParaRPr lang="fa-IR" b="1" dirty="0">
              <a:cs typeface="B Nazanin" panose="00000400000000000000" pitchFamily="2" charset="-78"/>
            </a:endParaRPr>
          </a:p>
          <a:p>
            <a:pPr algn="r" rtl="1"/>
            <a:r>
              <a:rPr lang="fa-IR" dirty="0">
                <a:cs typeface="B Nazanin" panose="00000400000000000000" pitchFamily="2" charset="-78"/>
              </a:rPr>
              <a:t>درصد پیشرفت پروژه </a:t>
            </a:r>
            <a:r>
              <a:rPr lang="fa-IR" dirty="0" smtClean="0">
                <a:cs typeface="B Nazanin" panose="00000400000000000000" pitchFamily="2" charset="-78"/>
              </a:rPr>
              <a:t>:</a:t>
            </a:r>
          </a:p>
          <a:p>
            <a:pPr algn="r" rtl="1"/>
            <a:r>
              <a:rPr lang="fa-IR" dirty="0" smtClean="0">
                <a:cs typeface="B Nazanin" panose="00000400000000000000" pitchFamily="2" charset="-78"/>
              </a:rPr>
              <a:t>موضوع </a:t>
            </a:r>
            <a:r>
              <a:rPr lang="fa-IR" dirty="0">
                <a:cs typeface="B Nazanin" panose="00000400000000000000" pitchFamily="2" charset="-78"/>
              </a:rPr>
              <a:t>اصلی پروژه</a:t>
            </a:r>
            <a:r>
              <a:rPr lang="fa-IR" dirty="0" smtClean="0">
                <a:cs typeface="B Nazanin" panose="00000400000000000000" pitchFamily="2" charset="-78"/>
              </a:rPr>
              <a:t>: عدم تامین هاست</a:t>
            </a:r>
            <a:endParaRPr lang="en-US" dirty="0">
              <a:cs typeface="B Nazanin" panose="00000400000000000000" pitchFamily="2" charset="-78"/>
            </a:endParaRPr>
          </a:p>
        </p:txBody>
      </p:sp>
    </p:spTree>
    <p:extLst>
      <p:ext uri="{BB962C8B-B14F-4D97-AF65-F5344CB8AC3E}">
        <p14:creationId xmlns:p14="http://schemas.microsoft.com/office/powerpoint/2010/main" val="23489309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2397661963"/>
              </p:ext>
            </p:extLst>
          </p:nvPr>
        </p:nvGraphicFramePr>
        <p:xfrm>
          <a:off x="0" y="1144854"/>
          <a:ext cx="9144000" cy="5713146"/>
        </p:xfrm>
        <a:graphic>
          <a:graphicData uri="http://schemas.openxmlformats.org/drawingml/2006/table">
            <a:tbl>
              <a:tblPr firstRow="1" bandRow="1">
                <a:tableStyleId>{5C22544A-7EE6-4342-B048-85BDC9FD1C3A}</a:tableStyleId>
              </a:tblPr>
              <a:tblGrid>
                <a:gridCol w="665020">
                  <a:extLst>
                    <a:ext uri="{9D8B030D-6E8A-4147-A177-3AD203B41FA5}">
                      <a16:colId xmlns="" xmlns:a16="http://schemas.microsoft.com/office/drawing/2014/main" val="2071912919"/>
                    </a:ext>
                  </a:extLst>
                </a:gridCol>
                <a:gridCol w="6283244">
                  <a:extLst>
                    <a:ext uri="{9D8B030D-6E8A-4147-A177-3AD203B41FA5}">
                      <a16:colId xmlns="" xmlns:a16="http://schemas.microsoft.com/office/drawing/2014/main" val="2743818203"/>
                    </a:ext>
                  </a:extLst>
                </a:gridCol>
                <a:gridCol w="1296144">
                  <a:extLst>
                    <a:ext uri="{9D8B030D-6E8A-4147-A177-3AD203B41FA5}">
                      <a16:colId xmlns="" xmlns:a16="http://schemas.microsoft.com/office/drawing/2014/main" val="20000"/>
                    </a:ext>
                  </a:extLst>
                </a:gridCol>
                <a:gridCol w="899592">
                  <a:extLst>
                    <a:ext uri="{9D8B030D-6E8A-4147-A177-3AD203B41FA5}">
                      <a16:colId xmlns="" xmlns:a16="http://schemas.microsoft.com/office/drawing/2014/main" val="20002"/>
                    </a:ext>
                  </a:extLst>
                </a:gridCol>
              </a:tblGrid>
              <a:tr h="634447">
                <a:tc>
                  <a:txBody>
                    <a:bodyPr/>
                    <a:lstStyle/>
                    <a:p>
                      <a:pPr algn="ctr" rtl="1"/>
                      <a:r>
                        <a:rPr lang="fa-IR" sz="1600" dirty="0">
                          <a:cs typeface="B Nazanin" panose="00000400000000000000" pitchFamily="2" charset="-78"/>
                        </a:rPr>
                        <a:t>تحقق</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عملکرد ماه و اقدامات در جریان</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هدف ماه</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100" dirty="0">
                          <a:cs typeface="B Titr" panose="00000700000000000000" pitchFamily="2" charset="-78"/>
                        </a:rPr>
                        <a:t>برنامه / فعالیت / اقدام</a:t>
                      </a:r>
                      <a:endParaRPr lang="en-US" sz="1100" dirty="0">
                        <a:cs typeface="B Titr" panose="00000700000000000000" pitchFamily="2" charset="-78"/>
                      </a:endParaRPr>
                    </a:p>
                  </a:txBody>
                  <a:tcPr/>
                </a:tc>
                <a:extLst>
                  <a:ext uri="{0D108BD9-81ED-4DB2-BD59-A6C34878D82A}">
                    <a16:rowId xmlns="" xmlns:a16="http://schemas.microsoft.com/office/drawing/2014/main" val="10000"/>
                  </a:ext>
                </a:extLst>
              </a:tr>
              <a:tr h="5078699">
                <a:tc>
                  <a:txBody>
                    <a:bodyPr/>
                    <a:lstStyle/>
                    <a:p>
                      <a:pPr marL="0" indent="0" algn="ctr" rtl="1">
                        <a:buFont typeface="Arial" panose="020B0604020202020204" pitchFamily="34" charset="0"/>
                        <a:buNone/>
                      </a:pPr>
                      <a:endParaRPr lang="fa-IR" sz="1400" baseline="0" dirty="0">
                        <a:solidFill>
                          <a:srgbClr val="0070C0"/>
                        </a:solidFill>
                        <a:cs typeface="B Nazanin" panose="00000400000000000000" pitchFamily="2" charset="-78"/>
                      </a:endParaRPr>
                    </a:p>
                  </a:txBody>
                  <a:tcPr/>
                </a:tc>
                <a:tc>
                  <a:txBody>
                    <a:bodyPr/>
                    <a:lstStyle/>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مالی:</a:t>
                      </a:r>
                    </a:p>
                    <a:p>
                      <a:pPr marL="742950" lvl="1" indent="-285750" algn="r" rtl="1">
                        <a:buFont typeface="Arial" panose="020B0604020202020204" pitchFamily="34" charset="0"/>
                        <a:buChar char="•"/>
                      </a:pPr>
                      <a:r>
                        <a:rPr lang="fa-IR" sz="1600" kern="1200" baseline="0" dirty="0" smtClean="0">
                          <a:solidFill>
                            <a:srgbClr val="0070C0"/>
                          </a:solidFill>
                          <a:latin typeface="+mn-lt"/>
                          <a:ea typeface="+mn-ea"/>
                          <a:cs typeface="B Nazanin" panose="00000400000000000000" pitchFamily="2" charset="-78"/>
                        </a:rPr>
                        <a:t>دو صورت وضعیت اول و دوم به محض دریافت قرارداد ارسال شده 3/10/1398</a:t>
                      </a:r>
                      <a:endParaRPr lang="en-US" sz="1600" kern="1200" baseline="0" dirty="0" smtClean="0">
                        <a:solidFill>
                          <a:srgbClr val="0070C0"/>
                        </a:solidFill>
                        <a:latin typeface="+mn-lt"/>
                        <a:ea typeface="+mn-ea"/>
                        <a:cs typeface="B Nazanin" panose="00000400000000000000" pitchFamily="2" charset="-78"/>
                      </a:endParaRPr>
                    </a:p>
                    <a:p>
                      <a:pPr marL="742950" lvl="1" indent="-285750" algn="r" rtl="1">
                        <a:buFont typeface="Arial" panose="020B0604020202020204" pitchFamily="34" charset="0"/>
                        <a:buChar char="•"/>
                      </a:pPr>
                      <a:r>
                        <a:rPr lang="fa-IR" sz="1600" kern="1200" baseline="0" dirty="0" smtClean="0">
                          <a:solidFill>
                            <a:srgbClr val="0070C0"/>
                          </a:solidFill>
                          <a:latin typeface="+mn-lt"/>
                          <a:ea typeface="+mn-ea"/>
                          <a:cs typeface="B Nazanin" panose="00000400000000000000" pitchFamily="2" charset="-78"/>
                        </a:rPr>
                        <a:t>پرداخت: اشکال قراردادی وجود دارد که باعث شده پرداخت تا زمان ارسال ضمانت نامه پشتیبانی به تعویق بیفتد.</a:t>
                      </a:r>
                      <a:endParaRPr lang="en-US" sz="1600" kern="1200" baseline="0" dirty="0" smtClean="0">
                        <a:solidFill>
                          <a:srgbClr val="0070C0"/>
                        </a:solidFill>
                        <a:latin typeface="+mn-lt"/>
                        <a:ea typeface="+mn-ea"/>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b="0" baseline="0" dirty="0">
                        <a:solidFill>
                          <a:srgbClr val="018ACF"/>
                        </a:solidFill>
                        <a:cs typeface="B Nazanin" panose="00000400000000000000" pitchFamily="2" charset="-78"/>
                      </a:endParaRPr>
                    </a:p>
                    <a:p>
                      <a:pPr marL="285750" indent="-285750" algn="just" rtl="1">
                        <a:buFont typeface="Arial" panose="020B0604020202020204" pitchFamily="34" charset="0"/>
                        <a:buChar char="•"/>
                      </a:pPr>
                      <a:r>
                        <a:rPr lang="fa-IR" sz="1600" b="1" kern="1200" baseline="0" dirty="0" smtClean="0">
                          <a:solidFill>
                            <a:schemeClr val="tx1"/>
                          </a:solidFill>
                          <a:latin typeface="+mn-lt"/>
                          <a:ea typeface="+mn-ea"/>
                          <a:cs typeface="B Nazanin" panose="00000400000000000000" pitchFamily="2" charset="-78"/>
                        </a:rPr>
                        <a:t>قراردادی</a:t>
                      </a:r>
                      <a:r>
                        <a:rPr lang="fa-IR" sz="1600" b="1" baseline="0" dirty="0" smtClean="0">
                          <a:solidFill>
                            <a:schemeClr val="tx1"/>
                          </a:solidFill>
                          <a:cs typeface="B Nazanin" panose="00000400000000000000" pitchFamily="2" charset="-78"/>
                        </a:rPr>
                        <a:t>:</a:t>
                      </a:r>
                      <a:r>
                        <a:rPr lang="fa-IR" sz="1600" baseline="0" dirty="0" smtClean="0">
                          <a:solidFill>
                            <a:srgbClr val="0070C0"/>
                          </a:solidFill>
                          <a:cs typeface="B Nazanin" panose="00000400000000000000" pitchFamily="2" charset="-78"/>
                        </a:rPr>
                        <a:t> </a:t>
                      </a:r>
                    </a:p>
                    <a:p>
                      <a:pPr marL="742950" lvl="1" indent="-285750" algn="just" rtl="1">
                        <a:buFont typeface="Arial" panose="020B0604020202020204" pitchFamily="34" charset="0"/>
                        <a:buChar char="•"/>
                      </a:pPr>
                      <a:r>
                        <a:rPr lang="fa-IR" sz="1600" baseline="0" dirty="0" smtClean="0">
                          <a:solidFill>
                            <a:srgbClr val="0070C0"/>
                          </a:solidFill>
                          <a:cs typeface="B Nazanin" panose="00000400000000000000" pitchFamily="2" charset="-78"/>
                        </a:rPr>
                        <a:t>برای زبان دوم پورتال و ماژول استعلام هم توافق توسط آقای کاشانی صورت گرفته</a:t>
                      </a:r>
                    </a:p>
                    <a:p>
                      <a:pPr marL="742950" lvl="1" indent="-285750" algn="just" rtl="1">
                        <a:buFont typeface="Arial" panose="020B0604020202020204" pitchFamily="34" charset="0"/>
                        <a:buChar char="•"/>
                      </a:pPr>
                      <a:r>
                        <a:rPr lang="fa-IR" sz="1600" baseline="0" dirty="0" smtClean="0">
                          <a:solidFill>
                            <a:srgbClr val="0070C0"/>
                          </a:solidFill>
                          <a:cs typeface="B Nazanin" panose="00000400000000000000" pitchFamily="2" charset="-78"/>
                        </a:rPr>
                        <a:t>به درخواست کارفرما توسط آقای کاشانی پیش فاکتور اجرای زیرپورتال خبری برایشان ارسال شده( احتمالا این پیش فاکتور بعد از پرداخت اولیه در نظر گرفته خواهد شد.) طرح گرافیکی آن ایجاد شده</a:t>
                      </a:r>
                      <a:r>
                        <a:rPr lang="fa-IR" sz="1600" baseline="0" dirty="0" smtClean="0">
                          <a:solidFill>
                            <a:srgbClr val="0070C0"/>
                          </a:solidFill>
                          <a:cs typeface="B Nazanin" panose="00000400000000000000" pitchFamily="2" charset="-78"/>
                        </a:rPr>
                        <a:t>.</a:t>
                      </a:r>
                    </a:p>
                    <a:p>
                      <a:pPr marL="285750" lvl="1" indent="-285750" algn="just" defTabSz="914400" rtl="1" eaLnBrk="1" latinLnBrk="0" hangingPunct="1">
                        <a:buFont typeface="Arial" panose="020B0604020202020204" pitchFamily="34" charset="0"/>
                        <a:buChar char="•"/>
                      </a:pPr>
                      <a:r>
                        <a:rPr lang="fa-IR" sz="1600" b="1" kern="1200" baseline="0" dirty="0" smtClean="0">
                          <a:solidFill>
                            <a:schemeClr val="tx1"/>
                          </a:solidFill>
                          <a:latin typeface="+mn-lt"/>
                          <a:ea typeface="+mn-ea"/>
                          <a:cs typeface="B Nazanin" panose="00000400000000000000" pitchFamily="2" charset="-78"/>
                        </a:rPr>
                        <a:t>اقدامات اجرایی</a:t>
                      </a:r>
                    </a:p>
                    <a:p>
                      <a:pPr marL="742950" lvl="1" indent="-285750" algn="just" defTabSz="914400" rtl="1" eaLnBrk="1" latinLnBrk="0" hangingPunct="1">
                        <a:buFont typeface="Arial" panose="020B0604020202020204" pitchFamily="34" charset="0"/>
                        <a:buChar char="•"/>
                      </a:pPr>
                      <a:r>
                        <a:rPr lang="fa-IR" sz="1600" kern="1200" baseline="0" dirty="0" smtClean="0">
                          <a:solidFill>
                            <a:srgbClr val="0070C0"/>
                          </a:solidFill>
                          <a:latin typeface="+mn-lt"/>
                          <a:ea typeface="+mn-ea"/>
                          <a:cs typeface="B Nazanin" panose="00000400000000000000" pitchFamily="2" charset="-78"/>
                        </a:rPr>
                        <a:t>تکمیل منوی انگلیسی اصطلاحات فارسی</a:t>
                      </a:r>
                    </a:p>
                    <a:p>
                      <a:pPr marL="742950" lvl="1" indent="-285750" algn="just" defTabSz="914400" rtl="1" eaLnBrk="1" latinLnBrk="0" hangingPunct="1">
                        <a:buFont typeface="Arial" panose="020B0604020202020204" pitchFamily="34" charset="0"/>
                        <a:buChar char="•"/>
                      </a:pPr>
                      <a:r>
                        <a:rPr lang="fa-IR" sz="1600" kern="1200" baseline="0" dirty="0" smtClean="0">
                          <a:solidFill>
                            <a:srgbClr val="0070C0"/>
                          </a:solidFill>
                          <a:latin typeface="+mn-lt"/>
                          <a:ea typeface="+mn-ea"/>
                          <a:cs typeface="B Nazanin" panose="00000400000000000000" pitchFamily="2" charset="-78"/>
                        </a:rPr>
                        <a:t>راه اندازی محاسبه کد شبا</a:t>
                      </a:r>
                    </a:p>
                    <a:p>
                      <a:pPr marL="742950" lvl="1" indent="-285750" algn="just" defTabSz="914400" rtl="1" eaLnBrk="1" latinLnBrk="0" hangingPunct="1">
                        <a:buFont typeface="Arial" panose="020B0604020202020204" pitchFamily="34" charset="0"/>
                        <a:buChar char="•"/>
                      </a:pPr>
                      <a:r>
                        <a:rPr lang="fa-IR" sz="1600" kern="1200" baseline="0" dirty="0" smtClean="0">
                          <a:solidFill>
                            <a:srgbClr val="0070C0"/>
                          </a:solidFill>
                          <a:latin typeface="+mn-lt"/>
                          <a:ea typeface="+mn-ea"/>
                          <a:cs typeface="B Nazanin" panose="00000400000000000000" pitchFamily="2" charset="-78"/>
                        </a:rPr>
                        <a:t>راه اندازی استعلام ضمانتنامه</a:t>
                      </a:r>
                      <a:endParaRPr lang="fa-IR" sz="1600" kern="1200" baseline="0" dirty="0" smtClean="0">
                        <a:solidFill>
                          <a:srgbClr val="0070C0"/>
                        </a:solidFill>
                        <a:latin typeface="+mn-lt"/>
                        <a:ea typeface="+mn-ea"/>
                        <a:cs typeface="B Nazanin" panose="00000400000000000000" pitchFamily="2" charset="-78"/>
                      </a:endParaRPr>
                    </a:p>
                  </a:txBody>
                  <a:tcPr/>
                </a:tc>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baseline="0" dirty="0" smtClean="0">
                          <a:solidFill>
                            <a:srgbClr val="0070C0"/>
                          </a:solidFill>
                          <a:latin typeface="+mn-lt"/>
                          <a:ea typeface="+mn-ea"/>
                          <a:cs typeface="B Nazanin" panose="00000400000000000000" pitchFamily="2" charset="-78"/>
                        </a:rPr>
                        <a:t>راه اندازی ماژول استعلام ضمانت نامه بانکیو شبا</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baseline="0" dirty="0" smtClean="0">
                          <a:solidFill>
                            <a:srgbClr val="0070C0"/>
                          </a:solidFill>
                          <a:latin typeface="+mn-lt"/>
                          <a:ea typeface="+mn-ea"/>
                          <a:cs typeface="B Nazanin" panose="00000400000000000000" pitchFamily="2" charset="-78"/>
                        </a:rPr>
                        <a:t>اجرای دو نمونه درگاه اختصاصی واحدهای سازمانی</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baseline="0" dirty="0" smtClean="0">
                          <a:solidFill>
                            <a:srgbClr val="0070C0"/>
                          </a:solidFill>
                          <a:latin typeface="+mn-lt"/>
                          <a:ea typeface="+mn-ea"/>
                          <a:cs typeface="B Nazanin" panose="00000400000000000000" pitchFamily="2" charset="-78"/>
                        </a:rPr>
                        <a:t>راه اندازی و پیکربندی سرور میرور </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baseline="0" dirty="0" smtClean="0">
                          <a:solidFill>
                            <a:srgbClr val="0070C0"/>
                          </a:solidFill>
                          <a:latin typeface="+mn-lt"/>
                          <a:ea typeface="+mn-ea"/>
                          <a:cs typeface="B Nazanin" panose="00000400000000000000" pitchFamily="2" charset="-78"/>
                        </a:rPr>
                        <a:t>ارائه خدمات آموزش</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baseline="0" dirty="0" smtClean="0">
                          <a:solidFill>
                            <a:srgbClr val="0070C0"/>
                          </a:solidFill>
                          <a:latin typeface="+mn-lt"/>
                          <a:ea typeface="+mn-ea"/>
                          <a:cs typeface="B Nazanin" panose="00000400000000000000" pitchFamily="2" charset="-78"/>
                        </a:rPr>
                        <a:t>تحویل پروژه</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dirty="0">
                        <a:solidFill>
                          <a:srgbClr val="0070C0"/>
                        </a:solidFill>
                        <a:cs typeface="B Nazanin" panose="00000400000000000000" pitchFamily="2" charset="-78"/>
                      </a:endParaRPr>
                    </a:p>
                  </a:txBody>
                  <a:tcPr/>
                </a:tc>
                <a:tc>
                  <a:txBody>
                    <a:bodyPr/>
                    <a:lstStyle/>
                    <a:p>
                      <a:pPr marL="0" marR="0" lvl="0" indent="0" algn="r" defTabSz="914400" rtl="1" eaLnBrk="1" fontAlgn="auto" latinLnBrk="0" hangingPunct="1">
                        <a:lnSpc>
                          <a:spcPct val="100000"/>
                        </a:lnSpc>
                        <a:spcBef>
                          <a:spcPts val="0"/>
                        </a:spcBef>
                        <a:spcAft>
                          <a:spcPts val="0"/>
                        </a:spcAft>
                        <a:buClrTx/>
                        <a:buSzTx/>
                        <a:buFontTx/>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Tx/>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kern="1200" dirty="0" smtClean="0">
                          <a:solidFill>
                            <a:sysClr val="windowText" lastClr="000000"/>
                          </a:solidFill>
                          <a:latin typeface="+mn-lt"/>
                          <a:ea typeface="+mn-ea"/>
                          <a:cs typeface="B Nazanin" panose="00000400000000000000" pitchFamily="2" charset="-78"/>
                        </a:rPr>
                        <a:t>بانک </a:t>
                      </a:r>
                      <a:r>
                        <a:rPr lang="fa-IR" sz="1800" kern="1200" dirty="0">
                          <a:solidFill>
                            <a:sysClr val="windowText" lastClr="000000"/>
                          </a:solidFill>
                          <a:latin typeface="+mn-lt"/>
                          <a:ea typeface="+mn-ea"/>
                          <a:cs typeface="B Nazanin" panose="00000400000000000000" pitchFamily="2" charset="-78"/>
                        </a:rPr>
                        <a:t>توسعه تعاون</a:t>
                      </a:r>
                      <a:endParaRPr lang="en-US" sz="1800" kern="1200" dirty="0">
                        <a:solidFill>
                          <a:sysClr val="windowText" lastClr="000000"/>
                        </a:solidFill>
                        <a:latin typeface="+mn-lt"/>
                        <a:ea typeface="+mn-ea"/>
                        <a:cs typeface="B Nazanin" panose="00000400000000000000" pitchFamily="2" charset="-78"/>
                      </a:endParaRPr>
                    </a:p>
                  </a:txBody>
                  <a:tcPr/>
                </a:tc>
                <a:extLst>
                  <a:ext uri="{0D108BD9-81ED-4DB2-BD59-A6C34878D82A}">
                    <a16:rowId xmlns="" xmlns:a16="http://schemas.microsoft.com/office/drawing/2014/main" val="2045926108"/>
                  </a:ext>
                </a:extLst>
              </a:tr>
            </a:tbl>
          </a:graphicData>
        </a:graphic>
      </p:graphicFrame>
    </p:spTree>
    <p:extLst>
      <p:ext uri="{BB962C8B-B14F-4D97-AF65-F5344CB8AC3E}">
        <p14:creationId xmlns:p14="http://schemas.microsoft.com/office/powerpoint/2010/main" val="322074483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r" rtl="1"/>
            <a:r>
              <a:rPr lang="fa-IR" sz="2400" dirty="0">
                <a:solidFill>
                  <a:srgbClr val="0070C0"/>
                </a:solidFill>
                <a:cs typeface="B Titr" panose="00000700000000000000" pitchFamily="2" charset="-78"/>
              </a:rPr>
              <a:t>گزارش ماه – پروژه های استقرار پورتال</a:t>
            </a:r>
            <a:endParaRPr lang="en-US" sz="2400" dirty="0">
              <a:solidFill>
                <a:srgbClr val="0070C0"/>
              </a:solidFill>
              <a:cs typeface="B Titr" panose="000007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2245942214"/>
              </p:ext>
            </p:extLst>
          </p:nvPr>
        </p:nvGraphicFramePr>
        <p:xfrm>
          <a:off x="0" y="4303625"/>
          <a:ext cx="9144000" cy="1839561"/>
        </p:xfrm>
        <a:graphic>
          <a:graphicData uri="http://schemas.openxmlformats.org/drawingml/2006/table">
            <a:tbl>
              <a:tblPr firstRow="1" bandRow="1">
                <a:tableStyleId>{5C22544A-7EE6-4342-B048-85BDC9FD1C3A}</a:tableStyleId>
              </a:tblPr>
              <a:tblGrid>
                <a:gridCol w="1867823">
                  <a:extLst>
                    <a:ext uri="{9D8B030D-6E8A-4147-A177-3AD203B41FA5}">
                      <a16:colId xmlns="" xmlns:a16="http://schemas.microsoft.com/office/drawing/2014/main" val="2743818203"/>
                    </a:ext>
                  </a:extLst>
                </a:gridCol>
                <a:gridCol w="1478693">
                  <a:extLst>
                    <a:ext uri="{9D8B030D-6E8A-4147-A177-3AD203B41FA5}">
                      <a16:colId xmlns="" xmlns:a16="http://schemas.microsoft.com/office/drawing/2014/main" val="20000"/>
                    </a:ext>
                  </a:extLst>
                </a:gridCol>
                <a:gridCol w="4585774">
                  <a:extLst>
                    <a:ext uri="{9D8B030D-6E8A-4147-A177-3AD203B41FA5}">
                      <a16:colId xmlns="" xmlns:a16="http://schemas.microsoft.com/office/drawing/2014/main" val="624471155"/>
                    </a:ext>
                  </a:extLst>
                </a:gridCol>
                <a:gridCol w="1211710">
                  <a:extLst>
                    <a:ext uri="{9D8B030D-6E8A-4147-A177-3AD203B41FA5}">
                      <a16:colId xmlns="" xmlns:a16="http://schemas.microsoft.com/office/drawing/2014/main" val="20002"/>
                    </a:ext>
                  </a:extLst>
                </a:gridCol>
              </a:tblGrid>
              <a:tr h="376521">
                <a:tc>
                  <a:txBody>
                    <a:bodyPr/>
                    <a:lstStyle/>
                    <a:p>
                      <a:pPr algn="ctr" rtl="1"/>
                      <a:r>
                        <a:rPr lang="fa-IR" sz="1600" dirty="0">
                          <a:cs typeface="B Nazanin" panose="00000400000000000000" pitchFamily="2" charset="-78"/>
                        </a:rPr>
                        <a:t>نفر/ساعت صرف شده</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واحد های مجری</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فعالیت</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600" dirty="0">
                          <a:cs typeface="B Titr" panose="00000700000000000000" pitchFamily="2" charset="-78"/>
                        </a:rPr>
                        <a:t>پروژه</a:t>
                      </a:r>
                      <a:endParaRPr lang="en-US" sz="1600" dirty="0">
                        <a:cs typeface="B Titr" panose="00000700000000000000" pitchFamily="2" charset="-78"/>
                      </a:endParaRPr>
                    </a:p>
                  </a:txBody>
                  <a:tcPr/>
                </a:tc>
                <a:extLst>
                  <a:ext uri="{0D108BD9-81ED-4DB2-BD59-A6C34878D82A}">
                    <a16:rowId xmlns="" xmlns:a16="http://schemas.microsoft.com/office/drawing/2014/main" val="10000"/>
                  </a:ext>
                </a:extLst>
              </a:tr>
              <a:tr h="27432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                ؟</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طراحی وب</a:t>
                      </a:r>
                    </a:p>
                  </a:txBody>
                  <a:tcPr anchor="ctr">
                    <a:solidFill>
                      <a:schemeClr val="tx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پیاده سازی پورتال اصلی دو زبانه و 25 زیر پورتال</a:t>
                      </a: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rowSpan="4">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dirty="0">
                          <a:solidFill>
                            <a:sysClr val="windowText" lastClr="000000"/>
                          </a:solidFill>
                          <a:cs typeface="B Nazanin" panose="00000400000000000000" pitchFamily="2" charset="-78"/>
                        </a:rPr>
                        <a:t>پروژه استقرار زیر ساخت سامان سوئیت در شهرداری همدان</a:t>
                      </a:r>
                      <a:endParaRPr lang="fa-IR" sz="2000" dirty="0">
                        <a:solidFill>
                          <a:sysClr val="windowText" lastClr="000000"/>
                        </a:solidFill>
                        <a:cs typeface="B Nazanin" panose="00000400000000000000" pitchFamily="2" charset="-78"/>
                      </a:endParaRPr>
                    </a:p>
                  </a:txBody>
                  <a:tcPr anchor="ctr"/>
                </a:tc>
                <a:extLst>
                  <a:ext uri="{0D108BD9-81ED-4DB2-BD59-A6C34878D82A}">
                    <a16:rowId xmlns="" xmlns:a16="http://schemas.microsoft.com/office/drawing/2014/main" val="2045926108"/>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052132704"/>
                  </a:ext>
                </a:extLst>
              </a:tr>
              <a:tr h="27432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a:solidFill>
                            <a:sysClr val="windowText" lastClr="000000"/>
                          </a:solidFill>
                          <a:cs typeface="B Nazanin" panose="00000400000000000000" pitchFamily="2" charset="-78"/>
                        </a:rPr>
                        <a:t>-</a:t>
                      </a: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توسعه</a:t>
                      </a:r>
                    </a:p>
                  </a:txBody>
                  <a:tcPr anchor="ctr">
                    <a:solidFill>
                      <a:schemeClr val="accent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پیاده سازی 20 فرم الکترونیکی</a:t>
                      </a: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776078083"/>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18+؟</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1559276603"/>
                  </a:ext>
                </a:extLst>
              </a:tr>
            </a:tbl>
          </a:graphicData>
        </a:graphic>
      </p:graphicFrame>
      <p:sp>
        <p:nvSpPr>
          <p:cNvPr id="4" name="TextBox 3">
            <a:extLst>
              <a:ext uri="{FF2B5EF4-FFF2-40B4-BE49-F238E27FC236}">
                <a16:creationId xmlns="" xmlns:a16="http://schemas.microsoft.com/office/drawing/2014/main" id="{3A0EFF49-75FA-4FB3-8736-A2B7A5D832BC}"/>
              </a:ext>
            </a:extLst>
          </p:cNvPr>
          <p:cNvSpPr txBox="1"/>
          <p:nvPr/>
        </p:nvSpPr>
        <p:spPr>
          <a:xfrm>
            <a:off x="1" y="1703139"/>
            <a:ext cx="9143999" cy="1200329"/>
          </a:xfrm>
          <a:prstGeom prst="rect">
            <a:avLst/>
          </a:prstGeom>
          <a:noFill/>
        </p:spPr>
        <p:txBody>
          <a:bodyPr wrap="square" rtlCol="0">
            <a:spAutoFit/>
          </a:bodyPr>
          <a:lstStyle/>
          <a:p>
            <a:pPr algn="r" rtl="1"/>
            <a:r>
              <a:rPr lang="fa-IR" dirty="0">
                <a:cs typeface="B Nazanin" panose="00000400000000000000" pitchFamily="2" charset="-78"/>
              </a:rPr>
              <a:t>تاریخ شروع قرارداد: </a:t>
            </a:r>
            <a:r>
              <a:rPr lang="fa-IR" b="1" dirty="0">
                <a:cs typeface="B Nazanin" panose="00000400000000000000" pitchFamily="2" charset="-78"/>
              </a:rPr>
              <a:t>1398/02/03	</a:t>
            </a:r>
            <a:r>
              <a:rPr lang="fa-IR" dirty="0">
                <a:cs typeface="B Nazanin" panose="00000400000000000000" pitchFamily="2" charset="-78"/>
              </a:rPr>
              <a:t>تاریخ خاتمه قرارداد: </a:t>
            </a:r>
            <a:r>
              <a:rPr lang="fa-IR" b="1" dirty="0">
                <a:cs typeface="B Nazanin" panose="00000400000000000000" pitchFamily="2" charset="-78"/>
              </a:rPr>
              <a:t>1399/02/03	</a:t>
            </a:r>
            <a:r>
              <a:rPr lang="fa-IR" dirty="0">
                <a:cs typeface="B Nazanin" panose="00000400000000000000" pitchFamily="2" charset="-78"/>
              </a:rPr>
              <a:t>تاریخ خاتمه پروژه قراردادی: </a:t>
            </a:r>
            <a:r>
              <a:rPr lang="fa-IR" b="1" dirty="0">
                <a:cs typeface="B Nazanin" panose="00000400000000000000" pitchFamily="2" charset="-78"/>
              </a:rPr>
              <a:t>1398/08/03</a:t>
            </a:r>
            <a:r>
              <a:rPr lang="fa-IR" dirty="0">
                <a:cs typeface="B Nazanin" panose="00000400000000000000" pitchFamily="2" charset="-78"/>
              </a:rPr>
              <a:t> </a:t>
            </a:r>
          </a:p>
          <a:p>
            <a:pPr algn="r" rtl="1"/>
            <a:r>
              <a:rPr lang="fa-IR" dirty="0">
                <a:cs typeface="B Nazanin" panose="00000400000000000000" pitchFamily="2" charset="-78"/>
              </a:rPr>
              <a:t>تاریخ بهره برداری از پروژه: </a:t>
            </a:r>
            <a:r>
              <a:rPr lang="fa-IR" b="1" dirty="0">
                <a:cs typeface="B Nazanin" panose="00000400000000000000" pitchFamily="2" charset="-78"/>
              </a:rPr>
              <a:t>1398/11/22 </a:t>
            </a:r>
          </a:p>
          <a:p>
            <a:pPr algn="r" rtl="1"/>
            <a:r>
              <a:rPr lang="fa-IR" dirty="0">
                <a:cs typeface="B Nazanin" panose="00000400000000000000" pitchFamily="2" charset="-78"/>
              </a:rPr>
              <a:t>درصد پیشرفت پروژه : </a:t>
            </a:r>
            <a:endParaRPr lang="fa-IR" dirty="0" smtClean="0">
              <a:cs typeface="B Nazanin" panose="00000400000000000000" pitchFamily="2" charset="-78"/>
            </a:endParaRPr>
          </a:p>
          <a:p>
            <a:pPr algn="r" rtl="1"/>
            <a:r>
              <a:rPr lang="fa-IR" dirty="0" smtClean="0">
                <a:cs typeface="B Nazanin" panose="00000400000000000000" pitchFamily="2" charset="-78"/>
              </a:rPr>
              <a:t>موضوع </a:t>
            </a:r>
            <a:r>
              <a:rPr lang="fa-IR" dirty="0">
                <a:cs typeface="B Nazanin" panose="00000400000000000000" pitchFamily="2" charset="-78"/>
              </a:rPr>
              <a:t>اصلی پروژه</a:t>
            </a:r>
            <a:r>
              <a:rPr lang="fa-IR" dirty="0" smtClean="0">
                <a:cs typeface="B Nazanin" panose="00000400000000000000" pitchFamily="2" charset="-78"/>
              </a:rPr>
              <a:t>: </a:t>
            </a:r>
            <a:r>
              <a:rPr lang="fa-IR" dirty="0" smtClean="0">
                <a:cs typeface="B Nazanin" panose="00000400000000000000" pitchFamily="2" charset="-78"/>
              </a:rPr>
              <a:t>زیرپورتال های سازمان ها و مناطق و معاونت ها نهایی سازی گردیده است.</a:t>
            </a:r>
            <a:endParaRPr lang="en-US" dirty="0">
              <a:cs typeface="B Nazanin" panose="00000400000000000000" pitchFamily="2" charset="-78"/>
            </a:endParaRPr>
          </a:p>
        </p:txBody>
      </p:sp>
    </p:spTree>
    <p:extLst>
      <p:ext uri="{BB962C8B-B14F-4D97-AF65-F5344CB8AC3E}">
        <p14:creationId xmlns:p14="http://schemas.microsoft.com/office/powerpoint/2010/main" val="11029129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3172793957"/>
              </p:ext>
            </p:extLst>
          </p:nvPr>
        </p:nvGraphicFramePr>
        <p:xfrm>
          <a:off x="0" y="1144855"/>
          <a:ext cx="9144000" cy="7025640"/>
        </p:xfrm>
        <a:graphic>
          <a:graphicData uri="http://schemas.openxmlformats.org/drawingml/2006/table">
            <a:tbl>
              <a:tblPr firstRow="1" bandRow="1">
                <a:tableStyleId>{5C22544A-7EE6-4342-B048-85BDC9FD1C3A}</a:tableStyleId>
              </a:tblPr>
              <a:tblGrid>
                <a:gridCol w="665020">
                  <a:extLst>
                    <a:ext uri="{9D8B030D-6E8A-4147-A177-3AD203B41FA5}">
                      <a16:colId xmlns="" xmlns:a16="http://schemas.microsoft.com/office/drawing/2014/main" val="2071912919"/>
                    </a:ext>
                  </a:extLst>
                </a:gridCol>
                <a:gridCol w="4987100">
                  <a:extLst>
                    <a:ext uri="{9D8B030D-6E8A-4147-A177-3AD203B41FA5}">
                      <a16:colId xmlns="" xmlns:a16="http://schemas.microsoft.com/office/drawing/2014/main" val="2743818203"/>
                    </a:ext>
                  </a:extLst>
                </a:gridCol>
                <a:gridCol w="2160240">
                  <a:extLst>
                    <a:ext uri="{9D8B030D-6E8A-4147-A177-3AD203B41FA5}">
                      <a16:colId xmlns="" xmlns:a16="http://schemas.microsoft.com/office/drawing/2014/main" val="20000"/>
                    </a:ext>
                  </a:extLst>
                </a:gridCol>
                <a:gridCol w="1331640">
                  <a:extLst>
                    <a:ext uri="{9D8B030D-6E8A-4147-A177-3AD203B41FA5}">
                      <a16:colId xmlns="" xmlns:a16="http://schemas.microsoft.com/office/drawing/2014/main" val="20002"/>
                    </a:ext>
                  </a:extLst>
                </a:gridCol>
              </a:tblGrid>
              <a:tr h="398292">
                <a:tc>
                  <a:txBody>
                    <a:bodyPr/>
                    <a:lstStyle/>
                    <a:p>
                      <a:pPr algn="ctr" rtl="1"/>
                      <a:r>
                        <a:rPr lang="fa-IR" sz="1600" dirty="0">
                          <a:cs typeface="B Nazanin" panose="00000400000000000000" pitchFamily="2" charset="-78"/>
                        </a:rPr>
                        <a:t>تحقق</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عملکرد ماه و اقدامات در جریان</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هدف ماه</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100" dirty="0">
                          <a:cs typeface="B Titr" panose="00000700000000000000" pitchFamily="2" charset="-78"/>
                        </a:rPr>
                        <a:t>برنامه / فعالیت / اقدام</a:t>
                      </a:r>
                      <a:endParaRPr lang="en-US" sz="1100" dirty="0">
                        <a:cs typeface="B Titr" panose="00000700000000000000" pitchFamily="2" charset="-78"/>
                      </a:endParaRPr>
                    </a:p>
                  </a:txBody>
                  <a:tcPr/>
                </a:tc>
                <a:extLst>
                  <a:ext uri="{0D108BD9-81ED-4DB2-BD59-A6C34878D82A}">
                    <a16:rowId xmlns="" xmlns:a16="http://schemas.microsoft.com/office/drawing/2014/main" val="10000"/>
                  </a:ext>
                </a:extLst>
              </a:tr>
              <a:tr h="5314853">
                <a:tc>
                  <a:txBody>
                    <a:bodyPr/>
                    <a:lstStyle/>
                    <a:p>
                      <a:pPr marL="0" indent="0" algn="ctr" rtl="1">
                        <a:buFont typeface="Arial" panose="020B0604020202020204" pitchFamily="34" charset="0"/>
                        <a:buNone/>
                      </a:pPr>
                      <a:r>
                        <a:rPr lang="fa-IR" sz="1400" baseline="0" dirty="0">
                          <a:solidFill>
                            <a:srgbClr val="0070C0"/>
                          </a:solidFill>
                          <a:cs typeface="B Nazanin" panose="00000400000000000000" pitchFamily="2" charset="-78"/>
                        </a:rPr>
                        <a:t>-</a:t>
                      </a:r>
                    </a:p>
                  </a:txBody>
                  <a:tcPr/>
                </a:tc>
                <a:tc>
                  <a:txBody>
                    <a:bodyPr/>
                    <a:lstStyle/>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مالی:</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0" kern="1200" baseline="0" dirty="0" smtClean="0">
                          <a:solidFill>
                            <a:srgbClr val="0070C0"/>
                          </a:solidFill>
                          <a:latin typeface="+mn-lt"/>
                          <a:ea typeface="+mn-ea"/>
                          <a:cs typeface="B Nazanin" panose="00000400000000000000" pitchFamily="2" charset="-78"/>
                        </a:rPr>
                        <a:t>صورت وضعیت مرحله اول پرداخت شده</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0" kern="1200" baseline="0" dirty="0" smtClean="0">
                          <a:solidFill>
                            <a:srgbClr val="0070C0"/>
                          </a:solidFill>
                          <a:latin typeface="+mn-lt"/>
                          <a:ea typeface="+mn-ea"/>
                          <a:cs typeface="B Nazanin" panose="00000400000000000000" pitchFamily="2" charset="-78"/>
                        </a:rPr>
                        <a:t>صورت وضعیت 2 و 3 در تاریخ 1/7/98 ارسال شده و صورت وضعیت 2 تا آخر هفته پرداخت خواهد شد. صورت وضعیت 3 احتمالا تا پایان سال پرداخت خواهد شد.</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kern="1200" baseline="0" dirty="0">
                        <a:solidFill>
                          <a:srgbClr val="0070C0"/>
                        </a:solidFill>
                        <a:latin typeface="+mn-lt"/>
                        <a:ea typeface="+mn-ea"/>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kern="1200" baseline="0" dirty="0" smtClean="0">
                          <a:solidFill>
                            <a:schemeClr val="tx1"/>
                          </a:solidFill>
                          <a:latin typeface="+mn-lt"/>
                          <a:ea typeface="+mn-ea"/>
                          <a:cs typeface="B Nazanin" panose="00000400000000000000" pitchFamily="2" charset="-78"/>
                        </a:rPr>
                        <a:t>قراردادی:</a:t>
                      </a:r>
                      <a:r>
                        <a:rPr lang="fa-IR" sz="1600" b="1" kern="1200" baseline="0" dirty="0" smtClean="0">
                          <a:solidFill>
                            <a:srgbClr val="0070C0"/>
                          </a:solidFill>
                          <a:latin typeface="+mn-lt"/>
                          <a:ea typeface="+mn-ea"/>
                          <a:cs typeface="B Nazanin" panose="00000400000000000000" pitchFamily="2" charset="-78"/>
                        </a:rPr>
                        <a:t> </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0" kern="1200" baseline="0" dirty="0" smtClean="0">
                          <a:solidFill>
                            <a:srgbClr val="0070C0"/>
                          </a:solidFill>
                          <a:latin typeface="+mn-lt"/>
                          <a:ea typeface="+mn-ea"/>
                          <a:cs typeface="B Nazanin" panose="00000400000000000000" pitchFamily="2" charset="-78"/>
                        </a:rPr>
                        <a:t>درخواست افزایش محدوده داشتند که سازه اطلاعات سامان نپذیرفته است.</a:t>
                      </a:r>
                      <a:endParaRPr lang="fa-IR" sz="1600" baseline="0" dirty="0">
                        <a:solidFill>
                          <a:srgbClr val="0070C0"/>
                        </a:solidFill>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اجرایی: </a:t>
                      </a:r>
                      <a:endParaRPr lang="fa-IR" sz="1600" b="1" baseline="0" dirty="0" smtClean="0">
                        <a:solidFill>
                          <a:schemeClr val="tx1"/>
                        </a:solidFill>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600" b="0" kern="1200" baseline="0" dirty="0" smtClean="0">
                          <a:solidFill>
                            <a:srgbClr val="0070C0"/>
                          </a:solidFill>
                          <a:latin typeface="+mn-lt"/>
                          <a:ea typeface="+mn-ea"/>
                          <a:cs typeface="B Nazanin" panose="00000400000000000000" pitchFamily="2" charset="-78"/>
                        </a:rPr>
                        <a:t>Release</a:t>
                      </a:r>
                      <a:r>
                        <a:rPr lang="fa-IR" sz="1600" b="0" kern="1200" baseline="0" dirty="0" smtClean="0">
                          <a:solidFill>
                            <a:srgbClr val="0070C0"/>
                          </a:solidFill>
                          <a:latin typeface="+mn-lt"/>
                          <a:ea typeface="+mn-ea"/>
                          <a:cs typeface="B Nazanin" panose="00000400000000000000" pitchFamily="2" charset="-78"/>
                        </a:rPr>
                        <a:t>در تاریخ بیست و دوم بهمن 98</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b="1" baseline="0" dirty="0" smtClean="0">
                        <a:solidFill>
                          <a:schemeClr val="tx1"/>
                        </a:solidFill>
                        <a:cs typeface="B Nazanin" panose="00000400000000000000" pitchFamily="2" charset="-78"/>
                      </a:endParaRPr>
                    </a:p>
                  </a:txBody>
                  <a:tcPr/>
                </a:tc>
                <a:tc>
                  <a:txBody>
                    <a:bodyPr/>
                    <a:lstStyle/>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تحویل یک به یک زیر پورتال ها</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نهایی سازی توافقات الحاقیه قرارداد</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ارسال صورت حساب مربوط به الحاقیه قرارداد</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دریافت نامه مفاصا حساب</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برنامه ریزی اقدامات اجرایی قسمت افزایش محدوده پروژه</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ارائه 5 قالب نما و چیدمان ها برای زیر پورتال ها و نهایی سازی آن توسط کارفرما</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انتقال اطلاعات سرویس های اخبار، فایل ها و گالری چند رسانه ای با استفاده از </a:t>
                      </a:r>
                      <a:r>
                        <a:rPr lang="en-US" sz="1600" baseline="0" dirty="0" smtClean="0">
                          <a:solidFill>
                            <a:srgbClr val="0070C0"/>
                          </a:solidFill>
                          <a:cs typeface="B Nazanin" panose="00000400000000000000" pitchFamily="2" charset="-78"/>
                        </a:rPr>
                        <a:t>API </a:t>
                      </a:r>
                      <a:r>
                        <a:rPr lang="fa-IR" sz="1600" baseline="0" dirty="0" smtClean="0">
                          <a:solidFill>
                            <a:srgbClr val="0070C0"/>
                          </a:solidFill>
                          <a:cs typeface="B Nazanin" panose="00000400000000000000" pitchFamily="2" charset="-78"/>
                        </a:rPr>
                        <a:t>توسعه یافته توسط کارفرما</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بارگذاری محتوای دستی در سایر ماژول ها و قسمت های نرم افزار توسط کارفرما</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برگزاری جلسات آموزش راهبری و مدیریتی تا سقف 48 نفر ساعت (19 نفر ساعت باقی مانده)</a:t>
                      </a:r>
                      <a:endParaRPr lang="fa-IR" sz="1600" baseline="0" dirty="0">
                        <a:solidFill>
                          <a:srgbClr val="0070C0"/>
                        </a:solidFill>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smtClean="0">
                        <a:solidFill>
                          <a:sysClr val="windowText" lastClr="000000"/>
                        </a:solidFill>
                        <a:latin typeface="+mn-lt"/>
                        <a:ea typeface="+mn-ea"/>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kern="1200" dirty="0" smtClean="0">
                          <a:solidFill>
                            <a:sysClr val="windowText" lastClr="000000"/>
                          </a:solidFill>
                          <a:latin typeface="+mn-lt"/>
                          <a:ea typeface="+mn-ea"/>
                          <a:cs typeface="B Nazanin" panose="00000400000000000000" pitchFamily="2" charset="-78"/>
                        </a:rPr>
                        <a:t>اجرای </a:t>
                      </a:r>
                      <a:r>
                        <a:rPr lang="fa-IR" sz="1800" kern="1200" dirty="0">
                          <a:solidFill>
                            <a:sysClr val="windowText" lastClr="000000"/>
                          </a:solidFill>
                          <a:latin typeface="+mn-lt"/>
                          <a:ea typeface="+mn-ea"/>
                          <a:cs typeface="B Nazanin" panose="00000400000000000000" pitchFamily="2" charset="-78"/>
                        </a:rPr>
                        <a:t>پروژه پورتال شهرداری همدان</a:t>
                      </a:r>
                      <a:endParaRPr lang="en-US" sz="1800" kern="1200" dirty="0">
                        <a:solidFill>
                          <a:sysClr val="windowText" lastClr="000000"/>
                        </a:solidFill>
                        <a:latin typeface="+mn-lt"/>
                        <a:ea typeface="+mn-ea"/>
                        <a:cs typeface="B Nazanin" panose="00000400000000000000" pitchFamily="2" charset="-78"/>
                      </a:endParaRPr>
                    </a:p>
                  </a:txBody>
                  <a:tcPr/>
                </a:tc>
                <a:extLst>
                  <a:ext uri="{0D108BD9-81ED-4DB2-BD59-A6C34878D82A}">
                    <a16:rowId xmlns="" xmlns:a16="http://schemas.microsoft.com/office/drawing/2014/main" val="2045926108"/>
                  </a:ext>
                </a:extLst>
              </a:tr>
            </a:tbl>
          </a:graphicData>
        </a:graphic>
      </p:graphicFrame>
    </p:spTree>
    <p:extLst>
      <p:ext uri="{BB962C8B-B14F-4D97-AF65-F5344CB8AC3E}">
        <p14:creationId xmlns:p14="http://schemas.microsoft.com/office/powerpoint/2010/main" val="22589960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2114925825"/>
              </p:ext>
            </p:extLst>
          </p:nvPr>
        </p:nvGraphicFramePr>
        <p:xfrm>
          <a:off x="0" y="3284984"/>
          <a:ext cx="9144000" cy="8027001"/>
        </p:xfrm>
        <a:graphic>
          <a:graphicData uri="http://schemas.openxmlformats.org/drawingml/2006/table">
            <a:tbl>
              <a:tblPr firstRow="1" bandRow="1">
                <a:tableStyleId>{5C22544A-7EE6-4342-B048-85BDC9FD1C3A}</a:tableStyleId>
              </a:tblPr>
              <a:tblGrid>
                <a:gridCol w="4139952">
                  <a:extLst>
                    <a:ext uri="{9D8B030D-6E8A-4147-A177-3AD203B41FA5}">
                      <a16:colId xmlns="" xmlns:a16="http://schemas.microsoft.com/office/drawing/2014/main" val="2743818203"/>
                    </a:ext>
                  </a:extLst>
                </a:gridCol>
                <a:gridCol w="1440160">
                  <a:extLst>
                    <a:ext uri="{9D8B030D-6E8A-4147-A177-3AD203B41FA5}">
                      <a16:colId xmlns="" xmlns:a16="http://schemas.microsoft.com/office/drawing/2014/main" val="20000"/>
                    </a:ext>
                  </a:extLst>
                </a:gridCol>
                <a:gridCol w="2352178">
                  <a:extLst>
                    <a:ext uri="{9D8B030D-6E8A-4147-A177-3AD203B41FA5}">
                      <a16:colId xmlns="" xmlns:a16="http://schemas.microsoft.com/office/drawing/2014/main" val="624471155"/>
                    </a:ext>
                  </a:extLst>
                </a:gridCol>
                <a:gridCol w="1211710">
                  <a:extLst>
                    <a:ext uri="{9D8B030D-6E8A-4147-A177-3AD203B41FA5}">
                      <a16:colId xmlns="" xmlns:a16="http://schemas.microsoft.com/office/drawing/2014/main" val="20002"/>
                    </a:ext>
                  </a:extLst>
                </a:gridCol>
              </a:tblGrid>
              <a:tr h="376521">
                <a:tc>
                  <a:txBody>
                    <a:bodyPr/>
                    <a:lstStyle/>
                    <a:p>
                      <a:pPr algn="ctr" rtl="1"/>
                      <a:r>
                        <a:rPr lang="fa-IR" sz="1600" dirty="0">
                          <a:cs typeface="B Nazanin" panose="00000400000000000000" pitchFamily="2" charset="-78"/>
                        </a:rPr>
                        <a:t>نفر/ساعت صرف شده</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واحد های مجری</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فعالیت</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600" dirty="0">
                          <a:cs typeface="B Titr" panose="00000700000000000000" pitchFamily="2" charset="-78"/>
                        </a:rPr>
                        <a:t>پروژه</a:t>
                      </a:r>
                      <a:endParaRPr lang="en-US" sz="1600" dirty="0">
                        <a:cs typeface="B Titr" panose="00000700000000000000" pitchFamily="2" charset="-78"/>
                      </a:endParaRPr>
                    </a:p>
                  </a:txBody>
                  <a:tcPr/>
                </a:tc>
                <a:extLst>
                  <a:ext uri="{0D108BD9-81ED-4DB2-BD59-A6C34878D82A}">
                    <a16:rowId xmlns="" xmlns:a16="http://schemas.microsoft.com/office/drawing/2014/main" val="10000"/>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طراحی وب</a:t>
                      </a:r>
                    </a:p>
                  </a:txBody>
                  <a:tcPr anchor="ctr">
                    <a:solidFill>
                      <a:schemeClr val="tx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پیاده سازی پورتال اینترنتی فارسی</a:t>
                      </a: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rowSpan="9">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kern="1200" dirty="0">
                          <a:solidFill>
                            <a:srgbClr val="0070C0"/>
                          </a:solidFill>
                          <a:latin typeface="+mn-lt"/>
                          <a:ea typeface="+mn-ea"/>
                          <a:cs typeface="B Nazanin" panose="00000400000000000000" pitchFamily="2" charset="-78"/>
                        </a:rPr>
                        <a:t>پروژه استقرار زیر ساخت سامان سوئیت در بیمه سامان</a:t>
                      </a:r>
                    </a:p>
                  </a:txBody>
                  <a:tcPr anchor="ctr"/>
                </a:tc>
                <a:extLst>
                  <a:ext uri="{0D108BD9-81ED-4DB2-BD59-A6C34878D82A}">
                    <a16:rowId xmlns="" xmlns:a16="http://schemas.microsoft.com/office/drawing/2014/main" val="2045926108"/>
                  </a:ext>
                </a:extLst>
              </a:tr>
              <a:tr h="27432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57+50 نفر ساعت مشترکا در </a:t>
                      </a:r>
                      <a:r>
                        <a:rPr lang="fa-IR" sz="1600" dirty="0" smtClean="0">
                          <a:solidFill>
                            <a:sysClr val="windowText" lastClr="000000"/>
                          </a:solidFill>
                          <a:cs typeface="B Nazanin" panose="00000400000000000000" pitchFamily="2" charset="-78"/>
                        </a:rPr>
                        <a:t>پیاده سازی پورتال اینترنتی فارسی</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زیر پورتال نمایندگان</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زیر پورتال سهامداران</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ارائه خدمات توسعه ای</a:t>
                      </a: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052132704"/>
                  </a:ext>
                </a:extLst>
              </a:tr>
              <a:tr h="27432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34</a:t>
                      </a:r>
                      <a:r>
                        <a:rPr lang="fa-IR" sz="1600" b="0" baseline="0" dirty="0" smtClean="0">
                          <a:solidFill>
                            <a:sysClr val="windowText" lastClr="000000"/>
                          </a:solidFill>
                          <a:cs typeface="B Nazanin" panose="00000400000000000000" pitchFamily="2" charset="-78"/>
                        </a:rPr>
                        <a:t> نفر ساعت</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0" baseline="0" dirty="0" smtClean="0">
                          <a:solidFill>
                            <a:sysClr val="windowText" lastClr="000000"/>
                          </a:solidFill>
                          <a:cs typeface="B Nazanin" panose="00000400000000000000" pitchFamily="2" charset="-78"/>
                        </a:rPr>
                        <a:t>مشترکا در زیر پورتال نمایندگان و زیر پورتال سهامداران و ارایه خدمات توسعه </a:t>
                      </a:r>
                      <a:r>
                        <a:rPr lang="fa-IR" sz="1600" b="0" baseline="0" dirty="0" smtClean="0">
                          <a:solidFill>
                            <a:sysClr val="windowText" lastClr="000000"/>
                          </a:solidFill>
                          <a:cs typeface="B Nazanin" panose="00000400000000000000" pitchFamily="2" charset="-78"/>
                        </a:rPr>
                        <a:t>ای</a:t>
                      </a:r>
                      <a:endParaRPr lang="fa-IR" sz="1600" b="0" baseline="0" dirty="0" smtClean="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توسعه</a:t>
                      </a:r>
                    </a:p>
                  </a:txBody>
                  <a:tcPr anchor="ctr">
                    <a:solidFill>
                      <a:schemeClr val="accent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زیر پورتال نمایندگان</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776078083"/>
                  </a:ext>
                </a:extLst>
              </a:tr>
              <a:tr h="27432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57+50 نفر ساعت مشترکا در </a:t>
                      </a:r>
                      <a:r>
                        <a:rPr lang="fa-IR" sz="1600" dirty="0" smtClean="0">
                          <a:solidFill>
                            <a:sysClr val="windowText" lastClr="000000"/>
                          </a:solidFill>
                          <a:cs typeface="B Nazanin" panose="00000400000000000000" pitchFamily="2" charset="-78"/>
                        </a:rPr>
                        <a:t>پیاده سازی پورتال اینترنتی فارسی</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زیر پورتال نمایندگان</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زیر پورتال سهامداران</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ارائه خدمات توسعه ای</a:t>
                      </a: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امور پروژه ها</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1559276603"/>
                  </a:ext>
                </a:extLst>
              </a:tr>
              <a:tr h="18288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34</a:t>
                      </a:r>
                      <a:r>
                        <a:rPr lang="fa-IR" sz="1600" b="0" baseline="0" dirty="0" smtClean="0">
                          <a:solidFill>
                            <a:sysClr val="windowText" lastClr="000000"/>
                          </a:solidFill>
                          <a:cs typeface="B Nazanin" panose="00000400000000000000" pitchFamily="2" charset="-78"/>
                        </a:rPr>
                        <a:t> نفر ساعت</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0" baseline="0" dirty="0" smtClean="0">
                          <a:solidFill>
                            <a:sysClr val="windowText" lastClr="000000"/>
                          </a:solidFill>
                          <a:cs typeface="B Nazanin" panose="00000400000000000000" pitchFamily="2" charset="-78"/>
                        </a:rPr>
                        <a:t>مشترکا در زیر پورتال نمایندگان و زیر پورتال سهامداران و ارایه خدمات توسعه ای</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توسعه</a:t>
                      </a:r>
                    </a:p>
                  </a:txBody>
                  <a:tcPr>
                    <a:solidFill>
                      <a:schemeClr val="tx2">
                        <a:lumMod val="20000"/>
                        <a:lumOff val="80000"/>
                      </a:schemeClr>
                    </a:solidFill>
                  </a:tcPr>
                </a:tc>
                <a:tc rowSpan="3">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زیر پورتال سهامداران</a:t>
                      </a:r>
                    </a:p>
                  </a:txBody>
                  <a:tcPr anchor="ctr">
                    <a:solidFill>
                      <a:schemeClr val="tx2">
                        <a:lumMod val="20000"/>
                        <a:lumOff val="80000"/>
                      </a:schemeClr>
                    </a:solidFill>
                  </a:tcP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2059642332"/>
                  </a:ext>
                </a:extLst>
              </a:tr>
              <a:tr h="18288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طراحی وب</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nchor="ct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3516979450"/>
                  </a:ext>
                </a:extLst>
              </a:tr>
              <a:tr h="18288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57+50 نفر ساعت مشترکا در </a:t>
                      </a:r>
                      <a:r>
                        <a:rPr lang="fa-IR" sz="1600" dirty="0" smtClean="0">
                          <a:solidFill>
                            <a:sysClr val="windowText" lastClr="000000"/>
                          </a:solidFill>
                          <a:cs typeface="B Nazanin" panose="00000400000000000000" pitchFamily="2" charset="-78"/>
                        </a:rPr>
                        <a:t>پیاده سازی پورتال اینترنتی فارسی</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زیر پورتال نمایندگان</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زیر پورتال سهامداران</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ارائه خدمات توسعه ای</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nchor="ct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1173294587"/>
                  </a:ext>
                </a:extLst>
              </a:tr>
              <a:tr h="18288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34</a:t>
                      </a:r>
                      <a:r>
                        <a:rPr lang="fa-IR" sz="1600" b="0" baseline="0" dirty="0" smtClean="0">
                          <a:solidFill>
                            <a:sysClr val="windowText" lastClr="000000"/>
                          </a:solidFill>
                          <a:cs typeface="B Nazanin" panose="00000400000000000000" pitchFamily="2" charset="-78"/>
                        </a:rPr>
                        <a:t> نفر ساعت</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0" baseline="0" dirty="0" smtClean="0">
                          <a:solidFill>
                            <a:sysClr val="windowText" lastClr="000000"/>
                          </a:solidFill>
                          <a:cs typeface="B Nazanin" panose="00000400000000000000" pitchFamily="2" charset="-78"/>
                        </a:rPr>
                        <a:t>مشترکا در زیر پورتال نمایندگان و زیر پورتال سهامداران و ارایه خدمات توسعه ای</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توسعه</a:t>
                      </a:r>
                    </a:p>
                  </a:txBody>
                  <a:tcPr>
                    <a:solidFill>
                      <a:schemeClr val="accent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ارائه خدمات توسعه ای</a:t>
                      </a:r>
                    </a:p>
                  </a:txBody>
                  <a:tcPr anchor="ctr">
                    <a:solidFill>
                      <a:schemeClr val="accent2">
                        <a:lumMod val="20000"/>
                        <a:lumOff val="80000"/>
                      </a:schemeClr>
                    </a:solidFill>
                  </a:tcP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2645715483"/>
                  </a:ext>
                </a:extLst>
              </a:tr>
              <a:tr h="182880">
                <a:tc>
                  <a:txBody>
                    <a:bodyPr/>
                    <a:lstStyle/>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57+50 نفر ساعت مشترکا در </a:t>
                      </a:r>
                      <a:r>
                        <a:rPr lang="fa-IR" sz="1600" dirty="0" smtClean="0">
                          <a:solidFill>
                            <a:sysClr val="windowText" lastClr="000000"/>
                          </a:solidFill>
                          <a:cs typeface="B Nazanin" panose="00000400000000000000" pitchFamily="2" charset="-78"/>
                        </a:rPr>
                        <a:t>پیاده سازی پورتال اینترنتی فارسی</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زیر پورتال نمایندگان</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زیر پورتال سهامداران</a:t>
                      </a:r>
                    </a:p>
                    <a:p>
                      <a:pPr marL="0" marR="0" lvl="0" indent="0" algn="just"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ارائه خدمات توسعه ای</a:t>
                      </a: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امور پروژه ها</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2000" dirty="0">
                        <a:solidFill>
                          <a:srgbClr val="0070C0"/>
                        </a:solidFill>
                        <a:cs typeface="B Nazanin" panose="00000400000000000000" pitchFamily="2" charset="-78"/>
                      </a:endParaRPr>
                    </a:p>
                  </a:txBody>
                  <a:tcPr anchor="ctr"/>
                </a:tc>
                <a:extLst>
                  <a:ext uri="{0D108BD9-81ED-4DB2-BD59-A6C34878D82A}">
                    <a16:rowId xmlns="" xmlns:a16="http://schemas.microsoft.com/office/drawing/2014/main" val="2615782266"/>
                  </a:ext>
                </a:extLst>
              </a:tr>
            </a:tbl>
          </a:graphicData>
        </a:graphic>
      </p:graphicFrame>
      <p:sp>
        <p:nvSpPr>
          <p:cNvPr id="4" name="TextBox 3">
            <a:extLst>
              <a:ext uri="{FF2B5EF4-FFF2-40B4-BE49-F238E27FC236}">
                <a16:creationId xmlns="" xmlns:a16="http://schemas.microsoft.com/office/drawing/2014/main" id="{D20DC1EC-9055-4923-BB06-2C68B4151ABA}"/>
              </a:ext>
            </a:extLst>
          </p:cNvPr>
          <p:cNvSpPr txBox="1"/>
          <p:nvPr/>
        </p:nvSpPr>
        <p:spPr>
          <a:xfrm>
            <a:off x="1" y="1340768"/>
            <a:ext cx="9143999" cy="1200329"/>
          </a:xfrm>
          <a:prstGeom prst="rect">
            <a:avLst/>
          </a:prstGeom>
          <a:noFill/>
        </p:spPr>
        <p:txBody>
          <a:bodyPr wrap="square" rtlCol="0">
            <a:spAutoFit/>
          </a:bodyPr>
          <a:lstStyle/>
          <a:p>
            <a:pPr algn="r" rtl="1"/>
            <a:r>
              <a:rPr lang="fa-IR" dirty="0">
                <a:cs typeface="B Nazanin" panose="00000400000000000000" pitchFamily="2" charset="-78"/>
              </a:rPr>
              <a:t>تاریخ شروع قرارداد: </a:t>
            </a:r>
            <a:r>
              <a:rPr lang="fa-IR" b="1" dirty="0">
                <a:cs typeface="B Nazanin" panose="00000400000000000000" pitchFamily="2" charset="-78"/>
              </a:rPr>
              <a:t>1398/06/31	</a:t>
            </a:r>
            <a:r>
              <a:rPr lang="fa-IR" dirty="0">
                <a:cs typeface="B Nazanin" panose="00000400000000000000" pitchFamily="2" charset="-78"/>
              </a:rPr>
              <a:t>تاریخ خاتمه قرارداد: </a:t>
            </a:r>
            <a:r>
              <a:rPr lang="fa-IR" b="1" dirty="0">
                <a:cs typeface="B Nazanin" panose="00000400000000000000" pitchFamily="2" charset="-78"/>
              </a:rPr>
              <a:t>1398/12/29	</a:t>
            </a:r>
            <a:r>
              <a:rPr lang="fa-IR" dirty="0">
                <a:cs typeface="B Nazanin" panose="00000400000000000000" pitchFamily="2" charset="-78"/>
              </a:rPr>
              <a:t>تاریخ خاتمه پروژه قراردادی: </a:t>
            </a:r>
            <a:r>
              <a:rPr lang="fa-IR" b="1" dirty="0">
                <a:cs typeface="B Nazanin" panose="00000400000000000000" pitchFamily="2" charset="-78"/>
              </a:rPr>
              <a:t>1398/09/30</a:t>
            </a:r>
            <a:r>
              <a:rPr lang="fa-IR" dirty="0">
                <a:cs typeface="B Nazanin" panose="00000400000000000000" pitchFamily="2" charset="-78"/>
              </a:rPr>
              <a:t> </a:t>
            </a:r>
          </a:p>
          <a:p>
            <a:pPr algn="r" rtl="1"/>
            <a:r>
              <a:rPr lang="fa-IR" dirty="0">
                <a:cs typeface="B Nazanin" panose="00000400000000000000" pitchFamily="2" charset="-78"/>
              </a:rPr>
              <a:t>تاریخ بهره برداری از پروژه: </a:t>
            </a:r>
            <a:r>
              <a:rPr lang="fa-IR" b="1" dirty="0">
                <a:cs typeface="B Nazanin" panose="00000400000000000000" pitchFamily="2" charset="-78"/>
              </a:rPr>
              <a:t>1398/11/16</a:t>
            </a:r>
          </a:p>
          <a:p>
            <a:pPr algn="r" rtl="1"/>
            <a:r>
              <a:rPr lang="fa-IR" dirty="0">
                <a:cs typeface="B Nazanin" panose="00000400000000000000" pitchFamily="2" charset="-78"/>
              </a:rPr>
              <a:t>درصد پیشرفت پروژه </a:t>
            </a:r>
            <a:r>
              <a:rPr lang="fa-IR" dirty="0" smtClean="0">
                <a:cs typeface="B Nazanin" panose="00000400000000000000" pitchFamily="2" charset="-78"/>
              </a:rPr>
              <a:t>:98%</a:t>
            </a:r>
            <a:endParaRPr lang="fa-IR" b="1" dirty="0">
              <a:cs typeface="B Nazanin" panose="00000400000000000000" pitchFamily="2" charset="-78"/>
            </a:endParaRPr>
          </a:p>
          <a:p>
            <a:pPr algn="r" rtl="1"/>
            <a:r>
              <a:rPr lang="fa-IR" dirty="0">
                <a:cs typeface="B Nazanin" panose="00000400000000000000" pitchFamily="2" charset="-78"/>
              </a:rPr>
              <a:t>موضوع اصلی پروژه</a:t>
            </a:r>
            <a:r>
              <a:rPr lang="fa-IR" dirty="0" smtClean="0">
                <a:cs typeface="B Nazanin" panose="00000400000000000000" pitchFamily="2" charset="-78"/>
              </a:rPr>
              <a:t>: دستاورد مهم در پروژه بیمه سامان بهره برداری از پروژه</a:t>
            </a:r>
            <a:endParaRPr lang="en-US" dirty="0">
              <a:cs typeface="B Nazanin" panose="00000400000000000000" pitchFamily="2" charset="-78"/>
            </a:endParaRPr>
          </a:p>
        </p:txBody>
      </p:sp>
    </p:spTree>
    <p:extLst>
      <p:ext uri="{BB962C8B-B14F-4D97-AF65-F5344CB8AC3E}">
        <p14:creationId xmlns:p14="http://schemas.microsoft.com/office/powerpoint/2010/main" val="11926111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3213793811"/>
              </p:ext>
            </p:extLst>
          </p:nvPr>
        </p:nvGraphicFramePr>
        <p:xfrm>
          <a:off x="0" y="1144854"/>
          <a:ext cx="9144000" cy="5873890"/>
        </p:xfrm>
        <a:graphic>
          <a:graphicData uri="http://schemas.openxmlformats.org/drawingml/2006/table">
            <a:tbl>
              <a:tblPr firstRow="1" bandRow="1">
                <a:tableStyleId>{5C22544A-7EE6-4342-B048-85BDC9FD1C3A}</a:tableStyleId>
              </a:tblPr>
              <a:tblGrid>
                <a:gridCol w="665020">
                  <a:extLst>
                    <a:ext uri="{9D8B030D-6E8A-4147-A177-3AD203B41FA5}">
                      <a16:colId xmlns="" xmlns:a16="http://schemas.microsoft.com/office/drawing/2014/main" val="2071912919"/>
                    </a:ext>
                  </a:extLst>
                </a:gridCol>
                <a:gridCol w="5419148">
                  <a:extLst>
                    <a:ext uri="{9D8B030D-6E8A-4147-A177-3AD203B41FA5}">
                      <a16:colId xmlns="" xmlns:a16="http://schemas.microsoft.com/office/drawing/2014/main" val="2743818203"/>
                    </a:ext>
                  </a:extLst>
                </a:gridCol>
                <a:gridCol w="2088232">
                  <a:extLst>
                    <a:ext uri="{9D8B030D-6E8A-4147-A177-3AD203B41FA5}">
                      <a16:colId xmlns="" xmlns:a16="http://schemas.microsoft.com/office/drawing/2014/main" val="20000"/>
                    </a:ext>
                  </a:extLst>
                </a:gridCol>
                <a:gridCol w="971600">
                  <a:extLst>
                    <a:ext uri="{9D8B030D-6E8A-4147-A177-3AD203B41FA5}">
                      <a16:colId xmlns="" xmlns:a16="http://schemas.microsoft.com/office/drawing/2014/main" val="20002"/>
                    </a:ext>
                  </a:extLst>
                </a:gridCol>
              </a:tblGrid>
              <a:tr h="433616">
                <a:tc>
                  <a:txBody>
                    <a:bodyPr/>
                    <a:lstStyle/>
                    <a:p>
                      <a:pPr algn="ctr" rtl="1"/>
                      <a:r>
                        <a:rPr lang="fa-IR" sz="1600" dirty="0">
                          <a:cs typeface="B Nazanin" panose="00000400000000000000" pitchFamily="2" charset="-78"/>
                        </a:rPr>
                        <a:t>تحقق</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عملکرد ماه و اقدامات در جریان</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هدف ماه</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100" dirty="0">
                          <a:cs typeface="B Titr" panose="00000700000000000000" pitchFamily="2" charset="-78"/>
                        </a:rPr>
                        <a:t>برنامه / فعالیت / اقدام</a:t>
                      </a:r>
                      <a:endParaRPr lang="en-US" sz="1100" dirty="0">
                        <a:cs typeface="B Titr" panose="00000700000000000000" pitchFamily="2" charset="-78"/>
                      </a:endParaRPr>
                    </a:p>
                  </a:txBody>
                  <a:tcPr/>
                </a:tc>
                <a:extLst>
                  <a:ext uri="{0D108BD9-81ED-4DB2-BD59-A6C34878D82A}">
                    <a16:rowId xmlns="" xmlns:a16="http://schemas.microsoft.com/office/drawing/2014/main" val="10000"/>
                  </a:ext>
                </a:extLst>
              </a:tr>
              <a:tr h="5279530">
                <a:tc>
                  <a:txBody>
                    <a:bodyPr/>
                    <a:lstStyle/>
                    <a:p>
                      <a:pPr marL="0" indent="0" algn="ctr" rtl="1">
                        <a:buFont typeface="Arial" panose="020B0604020202020204" pitchFamily="34" charset="0"/>
                        <a:buNone/>
                      </a:pPr>
                      <a:r>
                        <a:rPr lang="fa-IR" sz="1400" baseline="0" dirty="0" smtClean="0">
                          <a:solidFill>
                            <a:srgbClr val="0070C0"/>
                          </a:solidFill>
                          <a:cs typeface="B Nazanin" panose="00000400000000000000" pitchFamily="2" charset="-78"/>
                        </a:rPr>
                        <a:t>90%</a:t>
                      </a:r>
                      <a:endParaRPr lang="fa-IR" sz="1400" baseline="0" dirty="0">
                        <a:solidFill>
                          <a:srgbClr val="0070C0"/>
                        </a:solidFill>
                        <a:cs typeface="B Nazanin" panose="00000400000000000000" pitchFamily="2" charset="-78"/>
                      </a:endParaRPr>
                    </a:p>
                  </a:txBody>
                  <a:tcPr/>
                </a:tc>
                <a:tc>
                  <a:txBody>
                    <a:bodyPr/>
                    <a:lstStyle/>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مالی:</a:t>
                      </a:r>
                      <a:r>
                        <a:rPr lang="fa-IR" sz="1600" kern="1200" baseline="0" dirty="0" smtClean="0">
                          <a:solidFill>
                            <a:srgbClr val="0070C0"/>
                          </a:solidFill>
                          <a:latin typeface="+mn-lt"/>
                          <a:ea typeface="+mn-ea"/>
                          <a:cs typeface="B Nazanin" panose="00000400000000000000" pitchFamily="2" charset="-78"/>
                        </a:rPr>
                        <a:t> </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تسویه حساب مبلغ قرارداد(پیوست 8- جدول الف) انجام شده است.</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 100 همچنین  نفر-ساعت از میزان پانصد نفر-ساعت پرداخت شده است.</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قراردادی:</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از پیوست 8- جدول ب مورد ابزار پیاده سازی مورد درخواست خریداری قطعی می باشد.</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از میزان 400 نفر ساعت باقیمانده هم مشخص است که مورد استفاده قرار خواهد گرفت.</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درخواست های توسعه برای سال اتی نیز در بیمه سامان وجود دارد که واحد امور مشتریان باید در انعقاد قرارداد پشتیبانی به این امر توجه نماید.</a:t>
                      </a:r>
                      <a:endParaRPr lang="fa-IR" sz="1600" baseline="0" dirty="0" smtClean="0">
                        <a:solidFill>
                          <a:srgbClr val="0070C0"/>
                        </a:solidFill>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اجرایی:</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b="1" baseline="0" dirty="0" smtClean="0">
                        <a:solidFill>
                          <a:schemeClr val="tx1"/>
                        </a:solidFill>
                        <a:cs typeface="B Nazanin" panose="00000400000000000000" pitchFamily="2" charset="-78"/>
                      </a:endParaRPr>
                    </a:p>
                  </a:txBody>
                  <a:tcPr/>
                </a:tc>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dirty="0" smtClean="0">
                          <a:solidFill>
                            <a:srgbClr val="0070C0"/>
                          </a:solidFill>
                          <a:cs typeface="B Nazanin" panose="00000400000000000000" pitchFamily="2" charset="-78"/>
                        </a:rPr>
                        <a:t>بازطراحی نمای گرافیکی پورتال اصلی</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dirty="0" smtClean="0">
                          <a:solidFill>
                            <a:srgbClr val="0070C0"/>
                          </a:solidFill>
                          <a:cs typeface="B Nazanin" panose="00000400000000000000" pitchFamily="2" charset="-78"/>
                        </a:rPr>
                        <a:t>تعیین اقدامات توسعه ای</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dirty="0" smtClean="0">
                          <a:solidFill>
                            <a:srgbClr val="0070C0"/>
                          </a:solidFill>
                          <a:cs typeface="B Nazanin" panose="00000400000000000000" pitchFamily="2" charset="-78"/>
                        </a:rPr>
                        <a:t>اجرای درگاه سازمانی</a:t>
                      </a:r>
                      <a:endParaRPr lang="fa-IR" sz="1600" dirty="0">
                        <a:solidFill>
                          <a:srgbClr val="0070C0"/>
                        </a:solidFill>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dirty="0" smtClean="0">
                          <a:solidFill>
                            <a:srgbClr val="0070C0"/>
                          </a:solidFill>
                          <a:cs typeface="B Nazanin" panose="00000400000000000000" pitchFamily="2" charset="-78"/>
                        </a:rPr>
                        <a:t>اجرای </a:t>
                      </a:r>
                      <a:r>
                        <a:rPr lang="fa-IR" sz="1800" dirty="0">
                          <a:solidFill>
                            <a:srgbClr val="0070C0"/>
                          </a:solidFill>
                          <a:cs typeface="B Nazanin" panose="00000400000000000000" pitchFamily="2" charset="-78"/>
                        </a:rPr>
                        <a:t>پروژه بیمه سامان</a:t>
                      </a:r>
                    </a:p>
                  </a:txBody>
                  <a:tcPr/>
                </a:tc>
                <a:extLst>
                  <a:ext uri="{0D108BD9-81ED-4DB2-BD59-A6C34878D82A}">
                    <a16:rowId xmlns="" xmlns:a16="http://schemas.microsoft.com/office/drawing/2014/main" val="3399440659"/>
                  </a:ext>
                </a:extLst>
              </a:tr>
            </a:tbl>
          </a:graphicData>
        </a:graphic>
      </p:graphicFrame>
    </p:spTree>
    <p:extLst>
      <p:ext uri="{BB962C8B-B14F-4D97-AF65-F5344CB8AC3E}">
        <p14:creationId xmlns:p14="http://schemas.microsoft.com/office/powerpoint/2010/main" val="35064889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r" rtl="1"/>
            <a:r>
              <a:rPr lang="fa-IR" sz="2400" dirty="0">
                <a:solidFill>
                  <a:srgbClr val="0070C0"/>
                </a:solidFill>
                <a:cs typeface="B Titr" panose="00000700000000000000" pitchFamily="2" charset="-78"/>
              </a:rPr>
              <a:t>گزارش ماه – پروژه های استقرار پورتال</a:t>
            </a:r>
            <a:endParaRPr lang="en-US" sz="2400" dirty="0">
              <a:solidFill>
                <a:srgbClr val="0070C0"/>
              </a:solidFill>
              <a:cs typeface="B Titr" panose="000007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2363337068"/>
              </p:ext>
            </p:extLst>
          </p:nvPr>
        </p:nvGraphicFramePr>
        <p:xfrm>
          <a:off x="0" y="3284984"/>
          <a:ext cx="9144000" cy="2052921"/>
        </p:xfrm>
        <a:graphic>
          <a:graphicData uri="http://schemas.openxmlformats.org/drawingml/2006/table">
            <a:tbl>
              <a:tblPr firstRow="1" bandRow="1">
                <a:tableStyleId>{5C22544A-7EE6-4342-B048-85BDC9FD1C3A}</a:tableStyleId>
              </a:tblPr>
              <a:tblGrid>
                <a:gridCol w="1867823">
                  <a:extLst>
                    <a:ext uri="{9D8B030D-6E8A-4147-A177-3AD203B41FA5}">
                      <a16:colId xmlns="" xmlns:a16="http://schemas.microsoft.com/office/drawing/2014/main" val="2743818203"/>
                    </a:ext>
                  </a:extLst>
                </a:gridCol>
                <a:gridCol w="1478693">
                  <a:extLst>
                    <a:ext uri="{9D8B030D-6E8A-4147-A177-3AD203B41FA5}">
                      <a16:colId xmlns="" xmlns:a16="http://schemas.microsoft.com/office/drawing/2014/main" val="20000"/>
                    </a:ext>
                  </a:extLst>
                </a:gridCol>
                <a:gridCol w="4585774">
                  <a:extLst>
                    <a:ext uri="{9D8B030D-6E8A-4147-A177-3AD203B41FA5}">
                      <a16:colId xmlns="" xmlns:a16="http://schemas.microsoft.com/office/drawing/2014/main" val="624471155"/>
                    </a:ext>
                  </a:extLst>
                </a:gridCol>
                <a:gridCol w="1211710">
                  <a:extLst>
                    <a:ext uri="{9D8B030D-6E8A-4147-A177-3AD203B41FA5}">
                      <a16:colId xmlns="" xmlns:a16="http://schemas.microsoft.com/office/drawing/2014/main" val="20002"/>
                    </a:ext>
                  </a:extLst>
                </a:gridCol>
              </a:tblGrid>
              <a:tr h="376521">
                <a:tc>
                  <a:txBody>
                    <a:bodyPr/>
                    <a:lstStyle/>
                    <a:p>
                      <a:pPr algn="ctr" rtl="1"/>
                      <a:r>
                        <a:rPr lang="fa-IR" sz="1600" dirty="0">
                          <a:cs typeface="B Nazanin" panose="00000400000000000000" pitchFamily="2" charset="-78"/>
                        </a:rPr>
                        <a:t>نفر/ساعت صرف شده</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واحد های مجری</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فعالیت</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600" dirty="0">
                          <a:cs typeface="B Titr" panose="00000700000000000000" pitchFamily="2" charset="-78"/>
                        </a:rPr>
                        <a:t>پروژه</a:t>
                      </a:r>
                      <a:endParaRPr lang="en-US" sz="1600" dirty="0">
                        <a:cs typeface="B Titr" panose="00000700000000000000" pitchFamily="2" charset="-78"/>
                      </a:endParaRPr>
                    </a:p>
                  </a:txBody>
                  <a:tcPr/>
                </a:tc>
                <a:extLst>
                  <a:ext uri="{0D108BD9-81ED-4DB2-BD59-A6C34878D82A}">
                    <a16:rowId xmlns="" xmlns:a16="http://schemas.microsoft.com/office/drawing/2014/main" val="10000"/>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kern="1200" dirty="0" smtClean="0">
                          <a:solidFill>
                            <a:schemeClr val="tx1"/>
                          </a:solidFill>
                          <a:latin typeface="+mn-lt"/>
                          <a:ea typeface="+mn-ea"/>
                          <a:cs typeface="B Nazanin" panose="00000400000000000000" pitchFamily="2" charset="-78"/>
                        </a:rPr>
                        <a:t>50 نفر ساعت</a:t>
                      </a:r>
                      <a:endParaRPr lang="en-US" sz="1600" kern="1200" dirty="0" smtClean="0">
                        <a:solidFill>
                          <a:schemeClr val="tx1"/>
                        </a:solidFill>
                        <a:latin typeface="+mn-lt"/>
                        <a:ea typeface="+mn-ea"/>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طراحی وب</a:t>
                      </a:r>
                    </a:p>
                  </a:txBody>
                  <a:tcPr anchor="ctr">
                    <a:solidFill>
                      <a:schemeClr val="tx2">
                        <a:lumMod val="20000"/>
                        <a:lumOff val="80000"/>
                      </a:schemeClr>
                    </a:solidFill>
                  </a:tcPr>
                </a:tc>
                <a:tc rowSpan="2">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پیاده سازی پورتال اینترنتی فارسی</a:t>
                      </a: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rowSpan="5">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kern="1200" dirty="0">
                          <a:solidFill>
                            <a:srgbClr val="0070C0"/>
                          </a:solidFill>
                          <a:latin typeface="+mn-lt"/>
                          <a:ea typeface="+mn-ea"/>
                          <a:cs typeface="B Nazanin" panose="00000400000000000000" pitchFamily="2" charset="-78"/>
                        </a:rPr>
                        <a:t>پروژه استقرار زیر ساخت سامان سوئیت در </a:t>
                      </a:r>
                      <a:r>
                        <a:rPr lang="fa-IR" sz="1800" kern="1200" dirty="0" smtClean="0">
                          <a:solidFill>
                            <a:srgbClr val="0070C0"/>
                          </a:solidFill>
                          <a:latin typeface="+mn-lt"/>
                          <a:ea typeface="+mn-ea"/>
                          <a:cs typeface="B Nazanin" panose="00000400000000000000" pitchFamily="2" charset="-78"/>
                        </a:rPr>
                        <a:t>بانک اقتصاد نوین</a:t>
                      </a:r>
                      <a:endParaRPr lang="fa-IR" sz="1800" kern="1200" dirty="0">
                        <a:solidFill>
                          <a:srgbClr val="0070C0"/>
                        </a:solidFill>
                        <a:latin typeface="+mn-lt"/>
                        <a:ea typeface="+mn-ea"/>
                        <a:cs typeface="B Nazanin" panose="00000400000000000000" pitchFamily="2" charset="-78"/>
                      </a:endParaRPr>
                    </a:p>
                  </a:txBody>
                  <a:tcPr anchor="ctr"/>
                </a:tc>
                <a:extLst>
                  <a:ext uri="{0D108BD9-81ED-4DB2-BD59-A6C34878D82A}">
                    <a16:rowId xmlns="" xmlns:a16="http://schemas.microsoft.com/office/drawing/2014/main" val="2045926108"/>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052132704"/>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3 نفر ساعت</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توسعه</a:t>
                      </a:r>
                    </a:p>
                  </a:txBody>
                  <a:tcPr anchor="ctr">
                    <a:solidFill>
                      <a:schemeClr val="accent2">
                        <a:lumMod val="20000"/>
                        <a:lumOff val="80000"/>
                      </a:schemeClr>
                    </a:solidFill>
                  </a:tcPr>
                </a:tc>
                <a:tc rowSpan="3">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ارائه خدمات آموزش</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776078083"/>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3 نفر ساعت</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طراحی</a:t>
                      </a:r>
                      <a:r>
                        <a:rPr lang="fa-IR" sz="1600" baseline="0" dirty="0" smtClean="0">
                          <a:solidFill>
                            <a:sysClr val="windowText" lastClr="000000"/>
                          </a:solidFill>
                          <a:cs typeface="B Nazanin" panose="00000400000000000000" pitchFamily="2" charset="-78"/>
                        </a:rPr>
                        <a:t> وب</a:t>
                      </a:r>
                      <a:endParaRPr lang="fa-IR" sz="1600" dirty="0">
                        <a:solidFill>
                          <a:sysClr val="windowText" lastClr="000000"/>
                        </a:solidFill>
                        <a:cs typeface="B Nazanin" panose="00000400000000000000" pitchFamily="2" charset="-78"/>
                      </a:endParaRP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1559276603"/>
                  </a:ext>
                </a:extLst>
              </a:tr>
              <a:tr h="274320">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3 نفر ساعت</a:t>
                      </a:r>
                      <a:endParaRPr lang="fa-IR" sz="1600" baseline="0" dirty="0">
                        <a:solidFill>
                          <a:sysClr val="windowText" lastClr="000000"/>
                        </a:solidFill>
                        <a:cs typeface="B Nazanin" panose="00000400000000000000" pitchFamily="2" charset="-78"/>
                      </a:endParaRPr>
                    </a:p>
                  </a:txBody>
                  <a:tcPr>
                    <a:solidFill>
                      <a:schemeClr val="accent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امور پروژه ها</a:t>
                      </a:r>
                    </a:p>
                  </a:txBody>
                  <a:tcPr anchor="ctr">
                    <a:solidFill>
                      <a:schemeClr val="accent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smtClean="0">
                        <a:solidFill>
                          <a:sysClr val="windowText" lastClr="000000"/>
                        </a:solidFill>
                        <a:cs typeface="B Nazanin" panose="00000400000000000000" pitchFamily="2" charset="-78"/>
                      </a:endParaRPr>
                    </a:p>
                  </a:txBody>
                  <a:tcPr anchor="ctr">
                    <a:solidFill>
                      <a:schemeClr val="accent2">
                        <a:lumMod val="20000"/>
                        <a:lumOff val="80000"/>
                      </a:schemeClr>
                    </a:solidFill>
                  </a:tcPr>
                </a:tc>
                <a:tc vMerge="1">
                  <a:txBody>
                    <a:bodyPr/>
                    <a:lstStyle/>
                    <a:p>
                      <a:endParaRPr lang="en-US"/>
                    </a:p>
                  </a:txBody>
                  <a:tcPr/>
                </a:tc>
              </a:tr>
            </a:tbl>
          </a:graphicData>
        </a:graphic>
      </p:graphicFrame>
      <p:sp>
        <p:nvSpPr>
          <p:cNvPr id="4" name="TextBox 3">
            <a:extLst>
              <a:ext uri="{FF2B5EF4-FFF2-40B4-BE49-F238E27FC236}">
                <a16:creationId xmlns="" xmlns:a16="http://schemas.microsoft.com/office/drawing/2014/main" id="{D20DC1EC-9055-4923-BB06-2C68B4151ABA}"/>
              </a:ext>
            </a:extLst>
          </p:cNvPr>
          <p:cNvSpPr txBox="1"/>
          <p:nvPr/>
        </p:nvSpPr>
        <p:spPr>
          <a:xfrm>
            <a:off x="1" y="1340768"/>
            <a:ext cx="9143999" cy="1200329"/>
          </a:xfrm>
          <a:prstGeom prst="rect">
            <a:avLst/>
          </a:prstGeom>
          <a:noFill/>
        </p:spPr>
        <p:txBody>
          <a:bodyPr wrap="square" rtlCol="0">
            <a:spAutoFit/>
          </a:bodyPr>
          <a:lstStyle/>
          <a:p>
            <a:pPr algn="r" rtl="1"/>
            <a:r>
              <a:rPr lang="fa-IR" dirty="0">
                <a:cs typeface="B Nazanin" panose="00000400000000000000" pitchFamily="2" charset="-78"/>
              </a:rPr>
              <a:t>تاریخ شروع </a:t>
            </a:r>
            <a:r>
              <a:rPr lang="fa-IR" dirty="0" smtClean="0">
                <a:cs typeface="B Nazanin" panose="00000400000000000000" pitchFamily="2" charset="-78"/>
              </a:rPr>
              <a:t>قرارداد  98/10/01 </a:t>
            </a:r>
            <a:r>
              <a:rPr lang="fa-IR" b="1" dirty="0">
                <a:cs typeface="B Nazanin" panose="00000400000000000000" pitchFamily="2" charset="-78"/>
              </a:rPr>
              <a:t>	</a:t>
            </a:r>
            <a:r>
              <a:rPr lang="fa-IR" dirty="0">
                <a:cs typeface="B Nazanin" panose="00000400000000000000" pitchFamily="2" charset="-78"/>
              </a:rPr>
              <a:t>تاریخ خاتمه قرارداد: </a:t>
            </a:r>
            <a:r>
              <a:rPr lang="fa-IR" dirty="0" smtClean="0">
                <a:cs typeface="B Nazanin" panose="00000400000000000000" pitchFamily="2" charset="-78"/>
              </a:rPr>
              <a:t>99/12/29</a:t>
            </a:r>
            <a:r>
              <a:rPr lang="fa-IR" b="1" dirty="0">
                <a:cs typeface="B Nazanin" panose="00000400000000000000" pitchFamily="2" charset="-78"/>
              </a:rPr>
              <a:t>	</a:t>
            </a:r>
            <a:r>
              <a:rPr lang="fa-IR" dirty="0">
                <a:cs typeface="B Nazanin" panose="00000400000000000000" pitchFamily="2" charset="-78"/>
              </a:rPr>
              <a:t>تاریخ خاتمه پروژه </a:t>
            </a:r>
            <a:r>
              <a:rPr lang="fa-IR" dirty="0" smtClean="0">
                <a:cs typeface="B Nazanin" panose="00000400000000000000" pitchFamily="2" charset="-78"/>
              </a:rPr>
              <a:t>قراردادی:98/12/29 </a:t>
            </a:r>
            <a:endParaRPr lang="fa-IR" dirty="0">
              <a:cs typeface="B Nazanin" panose="00000400000000000000" pitchFamily="2" charset="-78"/>
            </a:endParaRPr>
          </a:p>
          <a:p>
            <a:pPr algn="r" rtl="1"/>
            <a:r>
              <a:rPr lang="fa-IR" dirty="0">
                <a:cs typeface="B Nazanin" panose="00000400000000000000" pitchFamily="2" charset="-78"/>
              </a:rPr>
              <a:t>تاریخ بهره برداری از </a:t>
            </a:r>
            <a:r>
              <a:rPr lang="fa-IR" dirty="0" smtClean="0">
                <a:cs typeface="B Nazanin" panose="00000400000000000000" pitchFamily="2" charset="-78"/>
              </a:rPr>
              <a:t>پروژه:98/12/26</a:t>
            </a:r>
          </a:p>
          <a:p>
            <a:pPr algn="r" rtl="1"/>
            <a:r>
              <a:rPr lang="fa-IR" dirty="0" smtClean="0">
                <a:cs typeface="B Nazanin" panose="00000400000000000000" pitchFamily="2" charset="-78"/>
              </a:rPr>
              <a:t>درصد </a:t>
            </a:r>
            <a:r>
              <a:rPr lang="fa-IR" dirty="0">
                <a:cs typeface="B Nazanin" panose="00000400000000000000" pitchFamily="2" charset="-78"/>
              </a:rPr>
              <a:t>پیشرفت پروژه </a:t>
            </a:r>
            <a:r>
              <a:rPr lang="fa-IR" dirty="0" smtClean="0">
                <a:cs typeface="B Nazanin" panose="00000400000000000000" pitchFamily="2" charset="-78"/>
              </a:rPr>
              <a:t>:90%</a:t>
            </a:r>
            <a:endParaRPr lang="fa-IR" b="1" dirty="0">
              <a:cs typeface="B Nazanin" panose="00000400000000000000" pitchFamily="2" charset="-78"/>
            </a:endParaRPr>
          </a:p>
          <a:p>
            <a:pPr algn="r" rtl="1"/>
            <a:r>
              <a:rPr lang="fa-IR" dirty="0">
                <a:cs typeface="B Nazanin" panose="00000400000000000000" pitchFamily="2" charset="-78"/>
              </a:rPr>
              <a:t>موضوع اصلی پروژه</a:t>
            </a:r>
            <a:r>
              <a:rPr lang="fa-IR" dirty="0" smtClean="0">
                <a:cs typeface="B Nazanin" panose="00000400000000000000" pitchFamily="2" charset="-78"/>
              </a:rPr>
              <a:t>: </a:t>
            </a:r>
            <a:r>
              <a:rPr lang="fa-IR" dirty="0" smtClean="0">
                <a:cs typeface="B Nazanin" panose="00000400000000000000" pitchFamily="2" charset="-78"/>
              </a:rPr>
              <a:t>اقدامات اجرایی پروزه در فرایند طبیعی خود می باشد.</a:t>
            </a:r>
            <a:endParaRPr lang="en-US" dirty="0">
              <a:cs typeface="B Nazanin" panose="00000400000000000000" pitchFamily="2" charset="-78"/>
            </a:endParaRPr>
          </a:p>
        </p:txBody>
      </p:sp>
    </p:spTree>
    <p:extLst>
      <p:ext uri="{BB962C8B-B14F-4D97-AF65-F5344CB8AC3E}">
        <p14:creationId xmlns:p14="http://schemas.microsoft.com/office/powerpoint/2010/main" val="239528957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3301603005"/>
              </p:ext>
            </p:extLst>
          </p:nvPr>
        </p:nvGraphicFramePr>
        <p:xfrm>
          <a:off x="0" y="1144854"/>
          <a:ext cx="9144000" cy="5873890"/>
        </p:xfrm>
        <a:graphic>
          <a:graphicData uri="http://schemas.openxmlformats.org/drawingml/2006/table">
            <a:tbl>
              <a:tblPr firstRow="1" bandRow="1">
                <a:tableStyleId>{5C22544A-7EE6-4342-B048-85BDC9FD1C3A}</a:tableStyleId>
              </a:tblPr>
              <a:tblGrid>
                <a:gridCol w="665020">
                  <a:extLst>
                    <a:ext uri="{9D8B030D-6E8A-4147-A177-3AD203B41FA5}">
                      <a16:colId xmlns="" xmlns:a16="http://schemas.microsoft.com/office/drawing/2014/main" val="2071912919"/>
                    </a:ext>
                  </a:extLst>
                </a:gridCol>
                <a:gridCol w="5419148">
                  <a:extLst>
                    <a:ext uri="{9D8B030D-6E8A-4147-A177-3AD203B41FA5}">
                      <a16:colId xmlns="" xmlns:a16="http://schemas.microsoft.com/office/drawing/2014/main" val="2743818203"/>
                    </a:ext>
                  </a:extLst>
                </a:gridCol>
                <a:gridCol w="2088232">
                  <a:extLst>
                    <a:ext uri="{9D8B030D-6E8A-4147-A177-3AD203B41FA5}">
                      <a16:colId xmlns="" xmlns:a16="http://schemas.microsoft.com/office/drawing/2014/main" val="20000"/>
                    </a:ext>
                  </a:extLst>
                </a:gridCol>
                <a:gridCol w="971600">
                  <a:extLst>
                    <a:ext uri="{9D8B030D-6E8A-4147-A177-3AD203B41FA5}">
                      <a16:colId xmlns="" xmlns:a16="http://schemas.microsoft.com/office/drawing/2014/main" val="20002"/>
                    </a:ext>
                  </a:extLst>
                </a:gridCol>
              </a:tblGrid>
              <a:tr h="433616">
                <a:tc>
                  <a:txBody>
                    <a:bodyPr/>
                    <a:lstStyle/>
                    <a:p>
                      <a:pPr algn="ctr" rtl="1"/>
                      <a:r>
                        <a:rPr lang="fa-IR" sz="1600" dirty="0">
                          <a:cs typeface="B Nazanin" panose="00000400000000000000" pitchFamily="2" charset="-78"/>
                        </a:rPr>
                        <a:t>تحقق</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عملکرد ماه و اقدامات در جریان</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هدف ماه</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100" dirty="0">
                          <a:cs typeface="B Titr" panose="00000700000000000000" pitchFamily="2" charset="-78"/>
                        </a:rPr>
                        <a:t>برنامه / فعالیت / اقدام</a:t>
                      </a:r>
                      <a:endParaRPr lang="en-US" sz="1100" dirty="0">
                        <a:cs typeface="B Titr" panose="00000700000000000000" pitchFamily="2" charset="-78"/>
                      </a:endParaRPr>
                    </a:p>
                  </a:txBody>
                  <a:tcPr/>
                </a:tc>
                <a:extLst>
                  <a:ext uri="{0D108BD9-81ED-4DB2-BD59-A6C34878D82A}">
                    <a16:rowId xmlns="" xmlns:a16="http://schemas.microsoft.com/office/drawing/2014/main" val="10000"/>
                  </a:ext>
                </a:extLst>
              </a:tr>
              <a:tr h="5279530">
                <a:tc>
                  <a:txBody>
                    <a:bodyPr/>
                    <a:lstStyle/>
                    <a:p>
                      <a:pPr marL="0" indent="0" algn="ctr" rtl="1">
                        <a:buFont typeface="Arial" panose="020B0604020202020204" pitchFamily="34" charset="0"/>
                        <a:buNone/>
                      </a:pPr>
                      <a:r>
                        <a:rPr lang="fa-IR" sz="1400" baseline="0" dirty="0" smtClean="0">
                          <a:solidFill>
                            <a:srgbClr val="0070C0"/>
                          </a:solidFill>
                          <a:cs typeface="B Nazanin" panose="00000400000000000000" pitchFamily="2" charset="-78"/>
                        </a:rPr>
                        <a:t>90%</a:t>
                      </a:r>
                      <a:endParaRPr lang="fa-IR" sz="1400" baseline="0" dirty="0">
                        <a:solidFill>
                          <a:srgbClr val="0070C0"/>
                        </a:solidFill>
                        <a:cs typeface="B Nazanin" panose="00000400000000000000" pitchFamily="2" charset="-78"/>
                      </a:endParaRPr>
                    </a:p>
                  </a:txBody>
                  <a:tcPr/>
                </a:tc>
                <a:tc>
                  <a:txBody>
                    <a:bodyPr/>
                    <a:lstStyle/>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a:solidFill>
                            <a:schemeClr val="tx1"/>
                          </a:solidFill>
                          <a:cs typeface="B Nazanin" panose="00000400000000000000" pitchFamily="2" charset="-78"/>
                        </a:rPr>
                        <a:t>وضعیت مالی </a:t>
                      </a:r>
                      <a:r>
                        <a:rPr lang="fa-IR" sz="1600" b="1" baseline="0" dirty="0" smtClean="0">
                          <a:solidFill>
                            <a:schemeClr val="tx1"/>
                          </a:solidFill>
                          <a:cs typeface="B Nazanin" panose="00000400000000000000" pitchFamily="2" charset="-78"/>
                        </a:rPr>
                        <a:t>پروژ</a:t>
                      </a:r>
                      <a:r>
                        <a:rPr lang="fa-IR" sz="1600" b="1" kern="1200" baseline="0" dirty="0" smtClean="0">
                          <a:solidFill>
                            <a:schemeClr val="tx1"/>
                          </a:solidFill>
                          <a:latin typeface="+mn-lt"/>
                          <a:ea typeface="+mn-ea"/>
                          <a:cs typeface="B Nazanin" panose="00000400000000000000" pitchFamily="2" charset="-78"/>
                        </a:rPr>
                        <a:t>ه:</a:t>
                      </a:r>
                      <a:r>
                        <a:rPr lang="fa-IR" sz="1600" kern="1200" baseline="0" dirty="0" smtClean="0">
                          <a:solidFill>
                            <a:srgbClr val="0070C0"/>
                          </a:solidFill>
                          <a:latin typeface="+mn-lt"/>
                          <a:ea typeface="+mn-ea"/>
                          <a:cs typeface="B Nazanin" panose="00000400000000000000" pitchFamily="2" charset="-78"/>
                        </a:rPr>
                        <a:t> </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25%  مبلغ قرارداد پرداخت شده.</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45% درخواست شده</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kern="1200" baseline="0" dirty="0" smtClean="0">
                        <a:solidFill>
                          <a:srgbClr val="0070C0"/>
                        </a:solidFill>
                        <a:latin typeface="+mn-lt"/>
                        <a:ea typeface="+mn-ea"/>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قراردادی:</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آقای کاشانی ماژول استعلام ضمانت نامه را بفروشد.</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b="1" baseline="0" dirty="0" smtClean="0">
                        <a:solidFill>
                          <a:schemeClr val="tx1"/>
                        </a:solidFill>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اجرایی:</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کانورت تا آخر هفته</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لینک های صفحه خانه</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کاربران(تا مشخص شدن نیازهای زیر پورتال ویژه همکاران که سال بعد اتفاق خواهد افتاد.)</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b="1" baseline="0" dirty="0" smtClean="0">
                        <a:solidFill>
                          <a:schemeClr val="tx1"/>
                        </a:solidFill>
                        <a:cs typeface="B Nazanin" panose="00000400000000000000" pitchFamily="2" charset="-78"/>
                      </a:endParaRPr>
                    </a:p>
                  </a:txBody>
                  <a:tcPr/>
                </a:tc>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dirty="0" smtClean="0">
                          <a:solidFill>
                            <a:srgbClr val="0070C0"/>
                          </a:solidFill>
                          <a:cs typeface="B Nazanin" panose="00000400000000000000" pitchFamily="2" charset="-78"/>
                        </a:rPr>
                        <a:t>تنظیم برنامه زمانبندی پروژه و تعیین اقدامات اجرایی پروژه و آغاز رسمی پروژه</a:t>
                      </a:r>
                      <a:endParaRPr lang="fa-IR" sz="1600" dirty="0">
                        <a:solidFill>
                          <a:srgbClr val="0070C0"/>
                        </a:solidFill>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dirty="0" smtClean="0">
                          <a:solidFill>
                            <a:srgbClr val="0070C0"/>
                          </a:solidFill>
                          <a:cs typeface="B Nazanin" panose="00000400000000000000" pitchFamily="2" charset="-78"/>
                        </a:rPr>
                        <a:t>اجرای پروژه </a:t>
                      </a:r>
                      <a:r>
                        <a:rPr lang="fa-IR" sz="1800" kern="1200" dirty="0" smtClean="0">
                          <a:solidFill>
                            <a:srgbClr val="0070C0"/>
                          </a:solidFill>
                          <a:latin typeface="+mn-lt"/>
                          <a:ea typeface="+mn-ea"/>
                          <a:cs typeface="B Nazanin" panose="00000400000000000000" pitchFamily="2" charset="-78"/>
                        </a:rPr>
                        <a:t>بانک اقتصاد نوین</a:t>
                      </a:r>
                      <a:endParaRPr lang="fa-IR" sz="1800" kern="1200" dirty="0">
                        <a:solidFill>
                          <a:srgbClr val="0070C0"/>
                        </a:solidFill>
                        <a:latin typeface="+mn-lt"/>
                        <a:ea typeface="+mn-ea"/>
                        <a:cs typeface="B Nazanin" panose="00000400000000000000" pitchFamily="2" charset="-78"/>
                      </a:endParaRPr>
                    </a:p>
                  </a:txBody>
                  <a:tcPr/>
                </a:tc>
                <a:extLst>
                  <a:ext uri="{0D108BD9-81ED-4DB2-BD59-A6C34878D82A}">
                    <a16:rowId xmlns="" xmlns:a16="http://schemas.microsoft.com/office/drawing/2014/main" val="3399440659"/>
                  </a:ext>
                </a:extLst>
              </a:tr>
            </a:tbl>
          </a:graphicData>
        </a:graphic>
      </p:graphicFrame>
    </p:spTree>
    <p:extLst>
      <p:ext uri="{BB962C8B-B14F-4D97-AF65-F5344CB8AC3E}">
        <p14:creationId xmlns:p14="http://schemas.microsoft.com/office/powerpoint/2010/main" val="37494129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ctr" rtl="1"/>
            <a:r>
              <a:rPr lang="fa-IR" sz="2400" dirty="0">
                <a:solidFill>
                  <a:srgbClr val="0070C0"/>
                </a:solidFill>
                <a:cs typeface="B Nazanin" panose="00000400000000000000" pitchFamily="2" charset="-78"/>
              </a:rPr>
              <a:t>گزارش ماه – پروژه های استقرار پورتال</a:t>
            </a:r>
            <a:endParaRPr lang="en-US" sz="2400" dirty="0">
              <a:solidFill>
                <a:srgbClr val="0070C0"/>
              </a:solidFill>
              <a:cs typeface="B Nazanin" panose="000004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4247139507"/>
              </p:ext>
            </p:extLst>
          </p:nvPr>
        </p:nvGraphicFramePr>
        <p:xfrm>
          <a:off x="0" y="3284985"/>
          <a:ext cx="9144000" cy="2072640"/>
        </p:xfrm>
        <a:graphic>
          <a:graphicData uri="http://schemas.openxmlformats.org/drawingml/2006/table">
            <a:tbl>
              <a:tblPr firstRow="1" bandRow="1">
                <a:tableStyleId>{5C22544A-7EE6-4342-B048-85BDC9FD1C3A}</a:tableStyleId>
              </a:tblPr>
              <a:tblGrid>
                <a:gridCol w="1867823">
                  <a:extLst>
                    <a:ext uri="{9D8B030D-6E8A-4147-A177-3AD203B41FA5}">
                      <a16:colId xmlns="" xmlns:a16="http://schemas.microsoft.com/office/drawing/2014/main" val="2743818203"/>
                    </a:ext>
                  </a:extLst>
                </a:gridCol>
                <a:gridCol w="1478693">
                  <a:extLst>
                    <a:ext uri="{9D8B030D-6E8A-4147-A177-3AD203B41FA5}">
                      <a16:colId xmlns="" xmlns:a16="http://schemas.microsoft.com/office/drawing/2014/main" val="20000"/>
                    </a:ext>
                  </a:extLst>
                </a:gridCol>
                <a:gridCol w="4585774">
                  <a:extLst>
                    <a:ext uri="{9D8B030D-6E8A-4147-A177-3AD203B41FA5}">
                      <a16:colId xmlns="" xmlns:a16="http://schemas.microsoft.com/office/drawing/2014/main" val="624471155"/>
                    </a:ext>
                  </a:extLst>
                </a:gridCol>
                <a:gridCol w="1211710">
                  <a:extLst>
                    <a:ext uri="{9D8B030D-6E8A-4147-A177-3AD203B41FA5}">
                      <a16:colId xmlns="" xmlns:a16="http://schemas.microsoft.com/office/drawing/2014/main" val="20002"/>
                    </a:ext>
                  </a:extLst>
                </a:gridCol>
              </a:tblGrid>
              <a:tr h="307823">
                <a:tc>
                  <a:txBody>
                    <a:bodyPr/>
                    <a:lstStyle/>
                    <a:p>
                      <a:pPr algn="ctr" rtl="1"/>
                      <a:r>
                        <a:rPr lang="fa-IR" sz="1600" dirty="0">
                          <a:cs typeface="B Nazanin" panose="00000400000000000000" pitchFamily="2" charset="-78"/>
                        </a:rPr>
                        <a:t>نفر/ساعت صرف شده</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واحد های مجری</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فعالیت</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600" dirty="0">
                          <a:cs typeface="B Titr" panose="00000700000000000000" pitchFamily="2" charset="-78"/>
                        </a:rPr>
                        <a:t>پروژه</a:t>
                      </a:r>
                      <a:endParaRPr lang="en-US" sz="1600" dirty="0">
                        <a:cs typeface="B Titr" panose="00000700000000000000" pitchFamily="2" charset="-78"/>
                      </a:endParaRPr>
                    </a:p>
                  </a:txBody>
                  <a:tcPr/>
                </a:tc>
                <a:extLst>
                  <a:ext uri="{0D108BD9-81ED-4DB2-BD59-A6C34878D82A}">
                    <a16:rowId xmlns="" xmlns:a16="http://schemas.microsoft.com/office/drawing/2014/main" val="10000"/>
                  </a:ext>
                </a:extLst>
              </a:tr>
              <a:tr h="274106">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cs typeface="B Nazanin" panose="00000400000000000000" pitchFamily="2" charset="-78"/>
                        </a:rPr>
                        <a:t>30 نفر ساعت</a:t>
                      </a:r>
                      <a:endParaRPr lang="en-US" sz="1600" dirty="0" smtClean="0">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طراحی وب</a:t>
                      </a:r>
                    </a:p>
                  </a:txBody>
                  <a:tcPr anchor="ctr">
                    <a:solidFill>
                      <a:schemeClr val="tx2">
                        <a:lumMod val="20000"/>
                        <a:lumOff val="80000"/>
                      </a:schemeClr>
                    </a:solidFill>
                  </a:tcPr>
                </a:tc>
                <a:tc rowSpan="3">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آنالیز فرایندها</a:t>
                      </a: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rowSpan="3">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kern="1200" dirty="0">
                          <a:solidFill>
                            <a:srgbClr val="0070C0"/>
                          </a:solidFill>
                          <a:latin typeface="+mn-lt"/>
                          <a:ea typeface="+mn-ea"/>
                          <a:cs typeface="B Nazanin" panose="00000400000000000000" pitchFamily="2" charset="-78"/>
                        </a:rPr>
                        <a:t>پروژه استقرار زیر ساخت سامان سوئیت در </a:t>
                      </a:r>
                      <a:r>
                        <a:rPr lang="fa-IR" sz="1800" kern="1200" dirty="0" smtClean="0">
                          <a:solidFill>
                            <a:srgbClr val="0070C0"/>
                          </a:solidFill>
                          <a:latin typeface="+mn-lt"/>
                          <a:ea typeface="+mn-ea"/>
                          <a:cs typeface="B Nazanin" panose="00000400000000000000" pitchFamily="2" charset="-78"/>
                        </a:rPr>
                        <a:t>سازمان صنایع توسعه دریایی</a:t>
                      </a:r>
                      <a:endParaRPr lang="fa-IR" sz="1800" kern="1200" dirty="0">
                        <a:solidFill>
                          <a:srgbClr val="0070C0"/>
                        </a:solidFill>
                        <a:latin typeface="+mn-lt"/>
                        <a:ea typeface="+mn-ea"/>
                        <a:cs typeface="B Nazanin" panose="00000400000000000000" pitchFamily="2" charset="-78"/>
                      </a:endParaRPr>
                    </a:p>
                  </a:txBody>
                  <a:tcPr anchor="ctr"/>
                </a:tc>
                <a:extLst>
                  <a:ext uri="{0D108BD9-81ED-4DB2-BD59-A6C34878D82A}">
                    <a16:rowId xmlns="" xmlns:a16="http://schemas.microsoft.com/office/drawing/2014/main" val="2045926108"/>
                  </a:ext>
                </a:extLst>
              </a:tr>
              <a:tr h="274106">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a:solidFill>
                            <a:sysClr val="windowText" lastClr="000000"/>
                          </a:solidFill>
                          <a:cs typeface="B Nazanin" panose="00000400000000000000" pitchFamily="2" charset="-78"/>
                        </a:rPr>
                        <a:t>امور پروژه ها</a:t>
                      </a: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rgbClr val="0070C0"/>
                        </a:solidFill>
                        <a:cs typeface="B Nazanin" panose="00000400000000000000" pitchFamily="2" charset="-78"/>
                      </a:endParaRPr>
                    </a:p>
                  </a:txBody>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052132704"/>
                  </a:ext>
                </a:extLst>
              </a:tr>
              <a:tr h="872157">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baseline="0" dirty="0" smtClean="0">
                          <a:solidFill>
                            <a:sysClr val="windowText" lastClr="000000"/>
                          </a:solidFill>
                          <a:cs typeface="B Nazanin" panose="00000400000000000000" pitchFamily="2" charset="-78"/>
                        </a:rPr>
                        <a:t>51 نفر ساعت</a:t>
                      </a:r>
                      <a:endParaRPr lang="fa-IR" sz="1600" baseline="0" dirty="0">
                        <a:solidFill>
                          <a:sysClr val="windowText" lastClr="000000"/>
                        </a:solidFill>
                        <a:cs typeface="B Nazanin" panose="00000400000000000000" pitchFamily="2" charset="-78"/>
                      </a:endParaRPr>
                    </a:p>
                  </a:txBody>
                  <a:tcPr>
                    <a:solidFill>
                      <a:schemeClr val="tx2">
                        <a:lumMod val="20000"/>
                        <a:lumOff val="80000"/>
                      </a:schemeClr>
                    </a:solidFill>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600" dirty="0" smtClean="0">
                          <a:solidFill>
                            <a:sysClr val="windowText" lastClr="000000"/>
                          </a:solidFill>
                          <a:cs typeface="B Nazanin" panose="00000400000000000000" pitchFamily="2" charset="-78"/>
                        </a:rPr>
                        <a:t>توسعه</a:t>
                      </a: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vMerge="1">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600" dirty="0">
                        <a:solidFill>
                          <a:sysClr val="windowText" lastClr="000000"/>
                        </a:solidFill>
                        <a:cs typeface="B Nazanin" panose="00000400000000000000" pitchFamily="2" charset="-78"/>
                      </a:endParaRPr>
                    </a:p>
                  </a:txBody>
                  <a:tcPr anchor="ctr">
                    <a:solidFill>
                      <a:schemeClr val="tx2">
                        <a:lumMod val="20000"/>
                        <a:lumOff val="80000"/>
                      </a:schemeClr>
                    </a:solidFill>
                  </a:tcPr>
                </a:tc>
                <a:tc vMerge="1">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kern="1200" dirty="0">
                        <a:solidFill>
                          <a:srgbClr val="0070C0"/>
                        </a:solidFill>
                        <a:latin typeface="+mn-lt"/>
                        <a:ea typeface="+mn-ea"/>
                        <a:cs typeface="B Nazanin" panose="00000400000000000000" pitchFamily="2" charset="-78"/>
                      </a:endParaRPr>
                    </a:p>
                  </a:txBody>
                  <a:tcPr anchor="ctr"/>
                </a:tc>
              </a:tr>
            </a:tbl>
          </a:graphicData>
        </a:graphic>
      </p:graphicFrame>
      <p:sp>
        <p:nvSpPr>
          <p:cNvPr id="4" name="TextBox 3">
            <a:extLst>
              <a:ext uri="{FF2B5EF4-FFF2-40B4-BE49-F238E27FC236}">
                <a16:creationId xmlns="" xmlns:a16="http://schemas.microsoft.com/office/drawing/2014/main" id="{D20DC1EC-9055-4923-BB06-2C68B4151ABA}"/>
              </a:ext>
            </a:extLst>
          </p:cNvPr>
          <p:cNvSpPr txBox="1"/>
          <p:nvPr/>
        </p:nvSpPr>
        <p:spPr>
          <a:xfrm>
            <a:off x="1" y="1340768"/>
            <a:ext cx="9143999" cy="1200329"/>
          </a:xfrm>
          <a:prstGeom prst="rect">
            <a:avLst/>
          </a:prstGeom>
          <a:noFill/>
        </p:spPr>
        <p:txBody>
          <a:bodyPr wrap="square" rtlCol="0">
            <a:spAutoFit/>
          </a:bodyPr>
          <a:lstStyle/>
          <a:p>
            <a:pPr algn="r" rtl="1"/>
            <a:r>
              <a:rPr lang="fa-IR" dirty="0">
                <a:cs typeface="B Nazanin" panose="00000400000000000000" pitchFamily="2" charset="-78"/>
              </a:rPr>
              <a:t>تاریخ شروع </a:t>
            </a:r>
            <a:r>
              <a:rPr lang="fa-IR" dirty="0" smtClean="0">
                <a:cs typeface="B Nazanin" panose="00000400000000000000" pitchFamily="2" charset="-78"/>
              </a:rPr>
              <a:t>قرارداد98/9/30</a:t>
            </a:r>
            <a:r>
              <a:rPr lang="fa-IR" b="1" dirty="0">
                <a:cs typeface="B Nazanin" panose="00000400000000000000" pitchFamily="2" charset="-78"/>
              </a:rPr>
              <a:t>	</a:t>
            </a:r>
            <a:r>
              <a:rPr lang="fa-IR" dirty="0">
                <a:cs typeface="B Nazanin" panose="00000400000000000000" pitchFamily="2" charset="-78"/>
              </a:rPr>
              <a:t>تاریخ خاتمه قرارداد: </a:t>
            </a:r>
            <a:r>
              <a:rPr lang="fa-IR" b="1" dirty="0">
                <a:cs typeface="B Nazanin" panose="00000400000000000000" pitchFamily="2" charset="-78"/>
              </a:rPr>
              <a:t>	</a:t>
            </a:r>
            <a:r>
              <a:rPr lang="fa-IR" b="1" dirty="0" smtClean="0">
                <a:cs typeface="B Nazanin" panose="00000400000000000000" pitchFamily="2" charset="-78"/>
              </a:rPr>
              <a:t>-</a:t>
            </a:r>
            <a:r>
              <a:rPr lang="fa-IR" dirty="0" smtClean="0">
                <a:cs typeface="B Nazanin" panose="00000400000000000000" pitchFamily="2" charset="-78"/>
              </a:rPr>
              <a:t>تاریخ </a:t>
            </a:r>
            <a:r>
              <a:rPr lang="fa-IR" dirty="0">
                <a:cs typeface="B Nazanin" panose="00000400000000000000" pitchFamily="2" charset="-78"/>
              </a:rPr>
              <a:t>خاتمه پروژه قراردادی</a:t>
            </a:r>
            <a:r>
              <a:rPr lang="fa-IR" dirty="0" smtClean="0">
                <a:cs typeface="B Nazanin" panose="00000400000000000000" pitchFamily="2" charset="-78"/>
              </a:rPr>
              <a:t>:-</a:t>
            </a:r>
            <a:endParaRPr lang="fa-IR" dirty="0">
              <a:cs typeface="B Nazanin" panose="00000400000000000000" pitchFamily="2" charset="-78"/>
            </a:endParaRPr>
          </a:p>
          <a:p>
            <a:pPr algn="r" rtl="1"/>
            <a:r>
              <a:rPr lang="fa-IR" dirty="0">
                <a:cs typeface="B Nazanin" panose="00000400000000000000" pitchFamily="2" charset="-78"/>
              </a:rPr>
              <a:t>تاریخ بهره برداری از پروژه: </a:t>
            </a:r>
            <a:r>
              <a:rPr lang="fa-IR" dirty="0" smtClean="0">
                <a:cs typeface="B Nazanin" panose="00000400000000000000" pitchFamily="2" charset="-78"/>
              </a:rPr>
              <a:t>-</a:t>
            </a:r>
          </a:p>
          <a:p>
            <a:pPr algn="r" rtl="1"/>
            <a:r>
              <a:rPr lang="fa-IR" dirty="0" smtClean="0">
                <a:cs typeface="B Nazanin" panose="00000400000000000000" pitchFamily="2" charset="-78"/>
              </a:rPr>
              <a:t>درصد </a:t>
            </a:r>
            <a:r>
              <a:rPr lang="fa-IR" dirty="0">
                <a:cs typeface="B Nazanin" panose="00000400000000000000" pitchFamily="2" charset="-78"/>
              </a:rPr>
              <a:t>پیشرفت پروژه </a:t>
            </a:r>
            <a:r>
              <a:rPr lang="fa-IR" dirty="0" smtClean="0">
                <a:cs typeface="B Nazanin" panose="00000400000000000000" pitchFamily="2" charset="-78"/>
              </a:rPr>
              <a:t>:</a:t>
            </a:r>
            <a:endParaRPr lang="fa-IR" b="1" dirty="0">
              <a:cs typeface="B Nazanin" panose="00000400000000000000" pitchFamily="2" charset="-78"/>
            </a:endParaRPr>
          </a:p>
          <a:p>
            <a:pPr algn="r" rtl="1"/>
            <a:r>
              <a:rPr lang="fa-IR" dirty="0">
                <a:cs typeface="B Nazanin" panose="00000400000000000000" pitchFamily="2" charset="-78"/>
              </a:rPr>
              <a:t>موضوع اصلی پروژه</a:t>
            </a:r>
            <a:r>
              <a:rPr lang="fa-IR" dirty="0" smtClean="0">
                <a:cs typeface="B Nazanin" panose="00000400000000000000" pitchFamily="2" charset="-78"/>
              </a:rPr>
              <a:t>: مدیریت نیازهای مشتری در مورد فرایندهای مورد نظر و تعیین محدوده پروژه</a:t>
            </a:r>
            <a:endParaRPr lang="en-US" dirty="0">
              <a:cs typeface="B Nazanin" panose="00000400000000000000" pitchFamily="2" charset="-78"/>
            </a:endParaRPr>
          </a:p>
        </p:txBody>
      </p:sp>
    </p:spTree>
    <p:extLst>
      <p:ext uri="{BB962C8B-B14F-4D97-AF65-F5344CB8AC3E}">
        <p14:creationId xmlns:p14="http://schemas.microsoft.com/office/powerpoint/2010/main" val="23883801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a:bodyPr>
          <a:lstStyle/>
          <a:p>
            <a:pPr algn="r" rtl="1"/>
            <a:r>
              <a:rPr lang="fa-IR" sz="2400" dirty="0">
                <a:solidFill>
                  <a:srgbClr val="0070C0"/>
                </a:solidFill>
                <a:cs typeface="B Titr" panose="00000700000000000000" pitchFamily="2" charset="-78"/>
              </a:rPr>
              <a:t>گزارش ماه – پروژه های استقرار پورتال</a:t>
            </a:r>
            <a:endParaRPr lang="en-US" sz="2400" dirty="0">
              <a:solidFill>
                <a:srgbClr val="0070C0"/>
              </a:solidFill>
              <a:cs typeface="B Titr" panose="000007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4184156063"/>
              </p:ext>
            </p:extLst>
          </p:nvPr>
        </p:nvGraphicFramePr>
        <p:xfrm>
          <a:off x="0" y="1144854"/>
          <a:ext cx="9144000" cy="5873890"/>
        </p:xfrm>
        <a:graphic>
          <a:graphicData uri="http://schemas.openxmlformats.org/drawingml/2006/table">
            <a:tbl>
              <a:tblPr firstRow="1" bandRow="1">
                <a:tableStyleId>{5C22544A-7EE6-4342-B048-85BDC9FD1C3A}</a:tableStyleId>
              </a:tblPr>
              <a:tblGrid>
                <a:gridCol w="665020">
                  <a:extLst>
                    <a:ext uri="{9D8B030D-6E8A-4147-A177-3AD203B41FA5}">
                      <a16:colId xmlns="" xmlns:a16="http://schemas.microsoft.com/office/drawing/2014/main" val="2071912919"/>
                    </a:ext>
                  </a:extLst>
                </a:gridCol>
                <a:gridCol w="5419148">
                  <a:extLst>
                    <a:ext uri="{9D8B030D-6E8A-4147-A177-3AD203B41FA5}">
                      <a16:colId xmlns="" xmlns:a16="http://schemas.microsoft.com/office/drawing/2014/main" val="2743818203"/>
                    </a:ext>
                  </a:extLst>
                </a:gridCol>
                <a:gridCol w="2088232">
                  <a:extLst>
                    <a:ext uri="{9D8B030D-6E8A-4147-A177-3AD203B41FA5}">
                      <a16:colId xmlns="" xmlns:a16="http://schemas.microsoft.com/office/drawing/2014/main" val="20000"/>
                    </a:ext>
                  </a:extLst>
                </a:gridCol>
                <a:gridCol w="971600">
                  <a:extLst>
                    <a:ext uri="{9D8B030D-6E8A-4147-A177-3AD203B41FA5}">
                      <a16:colId xmlns="" xmlns:a16="http://schemas.microsoft.com/office/drawing/2014/main" val="20002"/>
                    </a:ext>
                  </a:extLst>
                </a:gridCol>
              </a:tblGrid>
              <a:tr h="433616">
                <a:tc>
                  <a:txBody>
                    <a:bodyPr/>
                    <a:lstStyle/>
                    <a:p>
                      <a:pPr algn="ctr" rtl="1"/>
                      <a:r>
                        <a:rPr lang="fa-IR" sz="1600" dirty="0">
                          <a:cs typeface="B Nazanin" panose="00000400000000000000" pitchFamily="2" charset="-78"/>
                        </a:rPr>
                        <a:t>تحقق</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عملکرد ماه و اقدامات در جریان</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هدف ماه</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100" dirty="0">
                          <a:cs typeface="B Titr" panose="00000700000000000000" pitchFamily="2" charset="-78"/>
                        </a:rPr>
                        <a:t>برنامه / فعالیت / اقدام</a:t>
                      </a:r>
                      <a:endParaRPr lang="en-US" sz="1100" dirty="0">
                        <a:cs typeface="B Titr" panose="00000700000000000000" pitchFamily="2" charset="-78"/>
                      </a:endParaRPr>
                    </a:p>
                  </a:txBody>
                  <a:tcPr/>
                </a:tc>
                <a:extLst>
                  <a:ext uri="{0D108BD9-81ED-4DB2-BD59-A6C34878D82A}">
                    <a16:rowId xmlns="" xmlns:a16="http://schemas.microsoft.com/office/drawing/2014/main" val="10000"/>
                  </a:ext>
                </a:extLst>
              </a:tr>
              <a:tr h="5279530">
                <a:tc>
                  <a:txBody>
                    <a:bodyPr/>
                    <a:lstStyle/>
                    <a:p>
                      <a:pPr marL="0" indent="0" algn="ctr" rtl="1">
                        <a:buFont typeface="Arial" panose="020B0604020202020204" pitchFamily="34" charset="0"/>
                        <a:buNone/>
                      </a:pPr>
                      <a:endParaRPr lang="fa-IR" sz="1400" baseline="0" dirty="0">
                        <a:solidFill>
                          <a:srgbClr val="0070C0"/>
                        </a:solidFill>
                        <a:cs typeface="B Nazanin" panose="00000400000000000000" pitchFamily="2" charset="-78"/>
                      </a:endParaRPr>
                    </a:p>
                  </a:txBody>
                  <a:tcPr/>
                </a:tc>
                <a:tc>
                  <a:txBody>
                    <a:bodyPr/>
                    <a:lstStyle/>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a:solidFill>
                            <a:schemeClr val="tx1"/>
                          </a:solidFill>
                          <a:cs typeface="B Nazanin" panose="00000400000000000000" pitchFamily="2" charset="-78"/>
                        </a:rPr>
                        <a:t>وضعیت مالی </a:t>
                      </a:r>
                      <a:r>
                        <a:rPr lang="fa-IR" sz="1600" b="1" baseline="0" dirty="0" smtClean="0">
                          <a:solidFill>
                            <a:schemeClr val="tx1"/>
                          </a:solidFill>
                          <a:cs typeface="B Nazanin" panose="00000400000000000000" pitchFamily="2" charset="-78"/>
                        </a:rPr>
                        <a:t>پروژ</a:t>
                      </a:r>
                      <a:r>
                        <a:rPr lang="fa-IR" sz="1600" b="1" kern="1200" baseline="0" dirty="0" smtClean="0">
                          <a:solidFill>
                            <a:schemeClr val="tx1"/>
                          </a:solidFill>
                          <a:latin typeface="+mn-lt"/>
                          <a:ea typeface="+mn-ea"/>
                          <a:cs typeface="B Nazanin" panose="00000400000000000000" pitchFamily="2" charset="-78"/>
                        </a:rPr>
                        <a:t>ه:</a:t>
                      </a:r>
                      <a:r>
                        <a:rPr lang="fa-IR" sz="1600" kern="1200" baseline="0" dirty="0" smtClean="0">
                          <a:solidFill>
                            <a:srgbClr val="0070C0"/>
                          </a:solidFill>
                          <a:latin typeface="+mn-lt"/>
                          <a:ea typeface="+mn-ea"/>
                          <a:cs typeface="B Nazanin" panose="00000400000000000000" pitchFamily="2" charset="-78"/>
                        </a:rPr>
                        <a:t> </a:t>
                      </a:r>
                      <a:endParaRPr lang="fa-IR" sz="1600" kern="1200" baseline="0" dirty="0" smtClean="0">
                        <a:solidFill>
                          <a:srgbClr val="0070C0"/>
                        </a:solidFill>
                        <a:latin typeface="+mn-lt"/>
                        <a:ea typeface="+mn-ea"/>
                        <a:cs typeface="B Nazanin" panose="00000400000000000000" pitchFamily="2" charset="-78"/>
                      </a:endParaRP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هیچ پرداختی درخواست نگردیده و صورت نگرفته</a:t>
                      </a:r>
                      <a:endParaRPr lang="fa-IR" sz="1600" kern="1200" baseline="0" dirty="0" smtClean="0">
                        <a:solidFill>
                          <a:srgbClr val="0070C0"/>
                        </a:solidFill>
                        <a:latin typeface="+mn-lt"/>
                        <a:ea typeface="+mn-ea"/>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قراردادی</a:t>
                      </a:r>
                      <a:r>
                        <a:rPr lang="fa-IR" sz="1600" b="1" baseline="0" dirty="0" smtClean="0">
                          <a:solidFill>
                            <a:schemeClr val="tx1"/>
                          </a:solidFill>
                          <a:cs typeface="B Nazanin" panose="00000400000000000000" pitchFamily="2" charset="-78"/>
                        </a:rPr>
                        <a:t>:</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مدیریت نیازهای مشتری در مورد فرایندهای مورد نظر و تعیین محدوده پروژه</a:t>
                      </a:r>
                      <a:endParaRPr lang="en-US" sz="1600" kern="1200" baseline="0" dirty="0" smtClean="0">
                        <a:solidFill>
                          <a:srgbClr val="0070C0"/>
                        </a:solidFill>
                        <a:latin typeface="+mn-lt"/>
                        <a:ea typeface="+mn-ea"/>
                        <a:cs typeface="B Nazanin" panose="00000400000000000000" pitchFamily="2" charset="-78"/>
                      </a:endParaRP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kern="1200" baseline="0" dirty="0" smtClean="0">
                        <a:solidFill>
                          <a:srgbClr val="0070C0"/>
                        </a:solidFill>
                        <a:latin typeface="+mn-lt"/>
                        <a:ea typeface="+mn-ea"/>
                        <a:cs typeface="B Nazanin" panose="00000400000000000000" pitchFamily="2" charset="-78"/>
                      </a:endParaRP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1" baseline="0" dirty="0" smtClean="0">
                          <a:solidFill>
                            <a:schemeClr val="tx1"/>
                          </a:solidFill>
                          <a:cs typeface="B Nazanin" panose="00000400000000000000" pitchFamily="2" charset="-78"/>
                        </a:rPr>
                        <a:t>اجرایی</a:t>
                      </a:r>
                      <a:r>
                        <a:rPr lang="fa-IR" sz="1600" b="1" baseline="0" dirty="0" smtClean="0">
                          <a:solidFill>
                            <a:schemeClr val="tx1"/>
                          </a:solidFill>
                          <a:cs typeface="B Nazanin" panose="00000400000000000000" pitchFamily="2" charset="-78"/>
                        </a:rPr>
                        <a:t>:</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ارایه برنامه زمانبندب پروژه</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گزارش شناخت وضع جاری وب سایت کارفرما</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ارایه سند نیازمندی های سخت افزار و نرم افزار</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برگزاری جلسات تحلیل و طراحی فرایندهای الکترونیکی سازمان</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kern="1200" baseline="0" dirty="0" smtClean="0">
                          <a:solidFill>
                            <a:srgbClr val="0070C0"/>
                          </a:solidFill>
                          <a:latin typeface="+mn-lt"/>
                          <a:ea typeface="+mn-ea"/>
                          <a:cs typeface="B Nazanin" panose="00000400000000000000" pitchFamily="2" charset="-78"/>
                        </a:rPr>
                        <a:t>ارایه سند تحلیل فرایند ثبت نام و فراید تسهیلات ساخت شناور</a:t>
                      </a: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kern="1200" baseline="0" dirty="0" smtClean="0">
                        <a:solidFill>
                          <a:srgbClr val="0070C0"/>
                        </a:solidFill>
                        <a:latin typeface="+mn-lt"/>
                        <a:ea typeface="+mn-ea"/>
                        <a:cs typeface="B Nazanin" panose="00000400000000000000" pitchFamily="2" charset="-78"/>
                      </a:endParaRPr>
                    </a:p>
                    <a:p>
                      <a:pPr marL="742950" marR="0" lvl="1"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kern="1200" baseline="0" dirty="0" smtClean="0">
                        <a:solidFill>
                          <a:srgbClr val="0070C0"/>
                        </a:solidFill>
                        <a:latin typeface="+mn-lt"/>
                        <a:ea typeface="+mn-ea"/>
                        <a:cs typeface="B Nazanin" panose="00000400000000000000" pitchFamily="2" charset="-78"/>
                      </a:endParaRPr>
                    </a:p>
                  </a:txBody>
                  <a:tcPr/>
                </a:tc>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dirty="0" smtClean="0">
                          <a:solidFill>
                            <a:srgbClr val="0070C0"/>
                          </a:solidFill>
                          <a:cs typeface="B Nazanin" panose="00000400000000000000" pitchFamily="2" charset="-78"/>
                        </a:rPr>
                        <a:t>بازبینی فرایندهای مطرح شده در</a:t>
                      </a:r>
                      <a:r>
                        <a:rPr lang="fa-IR" sz="1600" baseline="0" dirty="0" smtClean="0">
                          <a:solidFill>
                            <a:srgbClr val="0070C0"/>
                          </a:solidFill>
                          <a:cs typeface="B Nazanin" panose="00000400000000000000" pitchFamily="2" charset="-78"/>
                        </a:rPr>
                        <a:t> سند شناخت از نظر فنی</a:t>
                      </a:r>
                      <a:endParaRPr lang="fa-IR" sz="1600" dirty="0">
                        <a:solidFill>
                          <a:srgbClr val="0070C0"/>
                        </a:solidFill>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dirty="0" smtClean="0">
                          <a:solidFill>
                            <a:srgbClr val="0070C0"/>
                          </a:solidFill>
                          <a:cs typeface="B Nazanin" panose="00000400000000000000" pitchFamily="2" charset="-78"/>
                        </a:rPr>
                        <a:t>اجرای پروژه </a:t>
                      </a:r>
                      <a:r>
                        <a:rPr lang="fa-IR" sz="1800" kern="1200" dirty="0" smtClean="0">
                          <a:solidFill>
                            <a:srgbClr val="0070C0"/>
                          </a:solidFill>
                          <a:latin typeface="+mn-lt"/>
                          <a:ea typeface="+mn-ea"/>
                          <a:cs typeface="B Nazanin" panose="00000400000000000000" pitchFamily="2" charset="-78"/>
                        </a:rPr>
                        <a:t>صندوق</a:t>
                      </a:r>
                      <a:r>
                        <a:rPr lang="fa-IR" sz="1800" kern="1200" baseline="0" dirty="0" smtClean="0">
                          <a:solidFill>
                            <a:srgbClr val="0070C0"/>
                          </a:solidFill>
                          <a:latin typeface="+mn-lt"/>
                          <a:ea typeface="+mn-ea"/>
                          <a:cs typeface="B Nazanin" panose="00000400000000000000" pitchFamily="2" charset="-78"/>
                        </a:rPr>
                        <a:t> توسعه صنایع دریایی</a:t>
                      </a:r>
                      <a:endParaRPr lang="fa-IR" sz="1800" kern="1200" dirty="0">
                        <a:solidFill>
                          <a:srgbClr val="0070C0"/>
                        </a:solidFill>
                        <a:latin typeface="+mn-lt"/>
                        <a:ea typeface="+mn-ea"/>
                        <a:cs typeface="B Nazanin" panose="00000400000000000000" pitchFamily="2" charset="-78"/>
                      </a:endParaRPr>
                    </a:p>
                  </a:txBody>
                  <a:tcPr/>
                </a:tc>
                <a:extLst>
                  <a:ext uri="{0D108BD9-81ED-4DB2-BD59-A6C34878D82A}">
                    <a16:rowId xmlns="" xmlns:a16="http://schemas.microsoft.com/office/drawing/2014/main" val="3399440659"/>
                  </a:ext>
                </a:extLst>
              </a:tr>
            </a:tbl>
          </a:graphicData>
        </a:graphic>
      </p:graphicFrame>
    </p:spTree>
    <p:extLst>
      <p:ext uri="{BB962C8B-B14F-4D97-AF65-F5344CB8AC3E}">
        <p14:creationId xmlns:p14="http://schemas.microsoft.com/office/powerpoint/2010/main" val="36242863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fontScale="90000"/>
          </a:bodyPr>
          <a:lstStyle/>
          <a:p>
            <a:pPr algn="r" rtl="1"/>
            <a:r>
              <a:rPr lang="fa-IR" sz="2400" dirty="0">
                <a:solidFill>
                  <a:srgbClr val="0070C0"/>
                </a:solidFill>
                <a:cs typeface="B Titr" panose="00000700000000000000" pitchFamily="2" charset="-78"/>
              </a:rPr>
              <a:t>گزارش ماه – </a:t>
            </a:r>
            <a:r>
              <a:rPr lang="fa-IR" sz="2400" dirty="0" smtClean="0">
                <a:solidFill>
                  <a:srgbClr val="0070C0"/>
                </a:solidFill>
                <a:cs typeface="B Titr" panose="00000700000000000000" pitchFamily="2" charset="-78"/>
              </a:rPr>
              <a:t>اقدامات منابع انسانی و درون سازمانی</a:t>
            </a:r>
            <a:endParaRPr lang="en-US" sz="2400" dirty="0">
              <a:solidFill>
                <a:srgbClr val="0070C0"/>
              </a:solidFill>
              <a:cs typeface="B Titr" panose="000007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1910999133"/>
              </p:ext>
            </p:extLst>
          </p:nvPr>
        </p:nvGraphicFramePr>
        <p:xfrm>
          <a:off x="0" y="1144854"/>
          <a:ext cx="9144000" cy="5873890"/>
        </p:xfrm>
        <a:graphic>
          <a:graphicData uri="http://schemas.openxmlformats.org/drawingml/2006/table">
            <a:tbl>
              <a:tblPr firstRow="1" bandRow="1">
                <a:tableStyleId>{5C22544A-7EE6-4342-B048-85BDC9FD1C3A}</a:tableStyleId>
              </a:tblPr>
              <a:tblGrid>
                <a:gridCol w="665020">
                  <a:extLst>
                    <a:ext uri="{9D8B030D-6E8A-4147-A177-3AD203B41FA5}">
                      <a16:colId xmlns="" xmlns:a16="http://schemas.microsoft.com/office/drawing/2014/main" val="2071912919"/>
                    </a:ext>
                  </a:extLst>
                </a:gridCol>
                <a:gridCol w="5419148">
                  <a:extLst>
                    <a:ext uri="{9D8B030D-6E8A-4147-A177-3AD203B41FA5}">
                      <a16:colId xmlns="" xmlns:a16="http://schemas.microsoft.com/office/drawing/2014/main" val="2743818203"/>
                    </a:ext>
                  </a:extLst>
                </a:gridCol>
                <a:gridCol w="2088232">
                  <a:extLst>
                    <a:ext uri="{9D8B030D-6E8A-4147-A177-3AD203B41FA5}">
                      <a16:colId xmlns="" xmlns:a16="http://schemas.microsoft.com/office/drawing/2014/main" val="20000"/>
                    </a:ext>
                  </a:extLst>
                </a:gridCol>
                <a:gridCol w="971600">
                  <a:extLst>
                    <a:ext uri="{9D8B030D-6E8A-4147-A177-3AD203B41FA5}">
                      <a16:colId xmlns="" xmlns:a16="http://schemas.microsoft.com/office/drawing/2014/main" val="20002"/>
                    </a:ext>
                  </a:extLst>
                </a:gridCol>
              </a:tblGrid>
              <a:tr h="433616">
                <a:tc>
                  <a:txBody>
                    <a:bodyPr/>
                    <a:lstStyle/>
                    <a:p>
                      <a:pPr algn="ctr" rtl="1"/>
                      <a:r>
                        <a:rPr lang="fa-IR" sz="1600" dirty="0">
                          <a:cs typeface="B Nazanin" panose="00000400000000000000" pitchFamily="2" charset="-78"/>
                        </a:rPr>
                        <a:t>تحقق</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عملکرد ماه و اقدامات در جریان</a:t>
                      </a:r>
                      <a:endParaRPr lang="en-US" sz="1600" dirty="0">
                        <a:cs typeface="B Nazanin" panose="00000400000000000000" pitchFamily="2" charset="-78"/>
                      </a:endParaRPr>
                    </a:p>
                  </a:txBody>
                  <a:tcPr/>
                </a:tc>
                <a:tc>
                  <a:txBody>
                    <a:bodyPr/>
                    <a:lstStyle/>
                    <a:p>
                      <a:pPr algn="ctr" rtl="1"/>
                      <a:r>
                        <a:rPr lang="fa-IR" sz="1600" dirty="0">
                          <a:cs typeface="B Nazanin" panose="00000400000000000000" pitchFamily="2" charset="-78"/>
                        </a:rPr>
                        <a:t>هدف ماه</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100" dirty="0">
                          <a:cs typeface="B Titr" panose="00000700000000000000" pitchFamily="2" charset="-78"/>
                        </a:rPr>
                        <a:t>برنامه / فعالیت / اقدام</a:t>
                      </a:r>
                      <a:endParaRPr lang="en-US" sz="1100" dirty="0">
                        <a:cs typeface="B Titr" panose="00000700000000000000" pitchFamily="2" charset="-78"/>
                      </a:endParaRPr>
                    </a:p>
                  </a:txBody>
                  <a:tcPr/>
                </a:tc>
                <a:extLst>
                  <a:ext uri="{0D108BD9-81ED-4DB2-BD59-A6C34878D82A}">
                    <a16:rowId xmlns="" xmlns:a16="http://schemas.microsoft.com/office/drawing/2014/main" val="10000"/>
                  </a:ext>
                </a:extLst>
              </a:tr>
              <a:tr h="5279530">
                <a:tc>
                  <a:txBody>
                    <a:bodyPr/>
                    <a:lstStyle/>
                    <a:p>
                      <a:pPr marL="0" indent="0" algn="ctr" rtl="1">
                        <a:buFont typeface="Arial" panose="020B0604020202020204" pitchFamily="34" charset="0"/>
                        <a:buNone/>
                      </a:pPr>
                      <a:endParaRPr lang="fa-IR" sz="1400" baseline="0" dirty="0">
                        <a:solidFill>
                          <a:srgbClr val="0070C0"/>
                        </a:solidFill>
                        <a:cs typeface="B Nazanin" panose="00000400000000000000" pitchFamily="2" charset="-78"/>
                      </a:endParaRPr>
                    </a:p>
                  </a:txBody>
                  <a:tcPr/>
                </a:tc>
                <a:tc>
                  <a:txBody>
                    <a:bodyPr/>
                    <a:lstStyle/>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برگزاری جلسات ارزیابی عملکرد</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ارزیابی عملکرد همکاران واحد</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600" baseline="0" dirty="0" smtClean="0">
                          <a:solidFill>
                            <a:srgbClr val="0070C0"/>
                          </a:solidFill>
                          <a:cs typeface="B Nazanin" panose="00000400000000000000" pitchFamily="2" charset="-78"/>
                        </a:rPr>
                        <a:t>پاسخگویی به سوالات و مسائل همکاران جدید</a:t>
                      </a:r>
                    </a:p>
                    <a:p>
                      <a:pPr marL="285750" marR="0" lvl="0" indent="-285750" algn="just"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baseline="0" dirty="0">
                        <a:solidFill>
                          <a:srgbClr val="0070C0"/>
                        </a:solidFill>
                        <a:cs typeface="B Nazanin" panose="00000400000000000000" pitchFamily="2" charset="-78"/>
                      </a:endParaRPr>
                    </a:p>
                  </a:txBody>
                  <a:tcPr/>
                </a:tc>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600" dirty="0">
                        <a:solidFill>
                          <a:srgbClr val="0070C0"/>
                        </a:solidFill>
                        <a:cs typeface="B Nazanin" panose="00000400000000000000" pitchFamily="2" charset="-78"/>
                      </a:endParaRPr>
                    </a:p>
                  </a:txBody>
                  <a:tcPr/>
                </a:tc>
                <a:tc>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endParaRPr lang="fa-IR" sz="1800" dirty="0" smtClean="0">
                        <a:solidFill>
                          <a:srgbClr val="0070C0"/>
                        </a:solidFill>
                        <a:cs typeface="B Nazanin" panose="00000400000000000000" pitchFamily="2" charset="-78"/>
                      </a:endParaRPr>
                    </a:p>
                    <a:p>
                      <a:pPr marL="0" marR="0" lvl="0" indent="0" algn="ct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800" dirty="0" smtClean="0">
                          <a:solidFill>
                            <a:srgbClr val="0070C0"/>
                          </a:solidFill>
                          <a:cs typeface="B Nazanin" panose="00000400000000000000" pitchFamily="2" charset="-78"/>
                        </a:rPr>
                        <a:t>منابع انسانی</a:t>
                      </a:r>
                      <a:r>
                        <a:rPr lang="fa-IR" sz="1800" baseline="0" dirty="0">
                          <a:solidFill>
                            <a:srgbClr val="0070C0"/>
                          </a:solidFill>
                          <a:cs typeface="B Nazanin" panose="00000400000000000000" pitchFamily="2" charset="-78"/>
                        </a:rPr>
                        <a:t> </a:t>
                      </a:r>
                      <a:r>
                        <a:rPr lang="fa-IR" sz="1800" baseline="0" dirty="0" smtClean="0">
                          <a:solidFill>
                            <a:srgbClr val="0070C0"/>
                          </a:solidFill>
                          <a:cs typeface="B Nazanin" panose="00000400000000000000" pitchFamily="2" charset="-78"/>
                        </a:rPr>
                        <a:t>و اقدامات درون سازمانی</a:t>
                      </a:r>
                      <a:endParaRPr lang="fa-IR" sz="1800" dirty="0" smtClean="0">
                        <a:solidFill>
                          <a:srgbClr val="0070C0"/>
                        </a:solidFill>
                        <a:cs typeface="B Nazanin" panose="00000400000000000000" pitchFamily="2" charset="-78"/>
                      </a:endParaRPr>
                    </a:p>
                  </a:txBody>
                  <a:tcPr/>
                </a:tc>
                <a:extLst>
                  <a:ext uri="{0D108BD9-81ED-4DB2-BD59-A6C34878D82A}">
                    <a16:rowId xmlns="" xmlns:a16="http://schemas.microsoft.com/office/drawing/2014/main" val="3399440659"/>
                  </a:ext>
                </a:extLst>
              </a:tr>
            </a:tbl>
          </a:graphicData>
        </a:graphic>
      </p:graphicFrame>
    </p:spTree>
    <p:extLst>
      <p:ext uri="{BB962C8B-B14F-4D97-AF65-F5344CB8AC3E}">
        <p14:creationId xmlns:p14="http://schemas.microsoft.com/office/powerpoint/2010/main" val="16654617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8965" y="714814"/>
            <a:ext cx="8229600" cy="458115"/>
          </a:xfrm>
        </p:spPr>
        <p:txBody>
          <a:bodyPr>
            <a:normAutofit fontScale="90000"/>
          </a:bodyPr>
          <a:lstStyle/>
          <a:p>
            <a:pPr algn="r" rtl="1"/>
            <a:r>
              <a:rPr lang="fa-IR" sz="2400" dirty="0">
                <a:solidFill>
                  <a:srgbClr val="0070C0"/>
                </a:solidFill>
                <a:cs typeface="B Titr" panose="00000700000000000000" pitchFamily="2" charset="-78"/>
              </a:rPr>
              <a:t>برنامه ریزی ماه آتی - پروژه های استقرار پورتال</a:t>
            </a:r>
            <a:endParaRPr lang="en-US" sz="2400" dirty="0">
              <a:solidFill>
                <a:srgbClr val="0070C0"/>
              </a:solidFill>
              <a:cs typeface="B Titr" panose="00000700000000000000" pitchFamily="2" charset="-78"/>
            </a:endParaRPr>
          </a:p>
        </p:txBody>
      </p:sp>
      <p:graphicFrame>
        <p:nvGraphicFramePr>
          <p:cNvPr id="3" name="Table 2"/>
          <p:cNvGraphicFramePr>
            <a:graphicFrameLocks noGrp="1"/>
          </p:cNvGraphicFramePr>
          <p:nvPr>
            <p:extLst>
              <p:ext uri="{D42A27DB-BD31-4B8C-83A1-F6EECF244321}">
                <p14:modId xmlns:p14="http://schemas.microsoft.com/office/powerpoint/2010/main" val="3572463530"/>
              </p:ext>
            </p:extLst>
          </p:nvPr>
        </p:nvGraphicFramePr>
        <p:xfrm>
          <a:off x="107504" y="1176692"/>
          <a:ext cx="8856984" cy="6202680"/>
        </p:xfrm>
        <a:graphic>
          <a:graphicData uri="http://schemas.openxmlformats.org/drawingml/2006/table">
            <a:tbl>
              <a:tblPr firstRow="1" bandRow="1">
                <a:tableStyleId>{5C22544A-7EE6-4342-B048-85BDC9FD1C3A}</a:tableStyleId>
              </a:tblPr>
              <a:tblGrid>
                <a:gridCol w="6912768">
                  <a:extLst>
                    <a:ext uri="{9D8B030D-6E8A-4147-A177-3AD203B41FA5}">
                      <a16:colId xmlns="" xmlns:a16="http://schemas.microsoft.com/office/drawing/2014/main" val="20000"/>
                    </a:ext>
                  </a:extLst>
                </a:gridCol>
                <a:gridCol w="1944216">
                  <a:extLst>
                    <a:ext uri="{9D8B030D-6E8A-4147-A177-3AD203B41FA5}">
                      <a16:colId xmlns="" xmlns:a16="http://schemas.microsoft.com/office/drawing/2014/main" val="20002"/>
                    </a:ext>
                  </a:extLst>
                </a:gridCol>
              </a:tblGrid>
              <a:tr h="371855">
                <a:tc>
                  <a:txBody>
                    <a:bodyPr/>
                    <a:lstStyle/>
                    <a:p>
                      <a:pPr algn="ctr" rtl="1"/>
                      <a:r>
                        <a:rPr lang="fa-IR" sz="1600" dirty="0">
                          <a:cs typeface="B Nazanin" panose="00000400000000000000" pitchFamily="2" charset="-78"/>
                        </a:rPr>
                        <a:t>هدف ماه</a:t>
                      </a:r>
                      <a:endParaRPr lang="en-US" sz="1600" dirty="0">
                        <a:cs typeface="B Nazanin" panose="00000400000000000000" pitchFamily="2" charset="-78"/>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fa-IR" sz="1600" dirty="0">
                          <a:cs typeface="B Titr" panose="00000700000000000000" pitchFamily="2" charset="-78"/>
                        </a:rPr>
                        <a:t>برنامه / فعالیت / اقدام</a:t>
                      </a:r>
                      <a:endParaRPr lang="en-US" sz="1600" dirty="0">
                        <a:cs typeface="B Titr" panose="00000700000000000000" pitchFamily="2" charset="-78"/>
                      </a:endParaRPr>
                    </a:p>
                  </a:txBody>
                  <a:tcPr/>
                </a:tc>
                <a:extLst>
                  <a:ext uri="{0D108BD9-81ED-4DB2-BD59-A6C34878D82A}">
                    <a16:rowId xmlns="" xmlns:a16="http://schemas.microsoft.com/office/drawing/2014/main" val="10000"/>
                  </a:ext>
                </a:extLst>
              </a:tr>
              <a:tr h="338049">
                <a:tc>
                  <a:txBody>
                    <a:bodyPr/>
                    <a:lstStyle/>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baseline="0" dirty="0" smtClean="0">
                          <a:solidFill>
                            <a:srgbClr val="0070C0"/>
                          </a:solidFill>
                          <a:cs typeface="B Nazanin" panose="00000400000000000000" pitchFamily="2" charset="-78"/>
                        </a:rPr>
                        <a:t>در صورت تغییر وضعیت مالی کارفرما نهایی سازی تحویل  زیرپورتال ها و درگاه های باقیمانده صورت می پذیرد</a:t>
                      </a:r>
                    </a:p>
                    <a:p>
                      <a:pPr marL="285750" marR="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baseline="0" dirty="0" smtClean="0">
                          <a:solidFill>
                            <a:srgbClr val="0070C0"/>
                          </a:solidFill>
                          <a:cs typeface="B Nazanin" panose="00000400000000000000" pitchFamily="2" charset="-78"/>
                        </a:rPr>
                        <a:t>همچنین آماده سازی پروژه جهت بهره برداری و تمدید قرارداد کارشناس مقیم</a:t>
                      </a:r>
                      <a:endParaRPr lang="fa-IR" sz="1400" baseline="0" dirty="0">
                        <a:solidFill>
                          <a:srgbClr val="0070C0"/>
                        </a:solidFill>
                        <a:cs typeface="B Nazanin" panose="00000400000000000000" pitchFamily="2" charset="-78"/>
                      </a:endParaRPr>
                    </a:p>
                  </a:txBody>
                  <a:tcPr/>
                </a:tc>
                <a:tc>
                  <a:txBody>
                    <a:bodyPr/>
                    <a:lstStyle/>
                    <a:p>
                      <a:pPr marL="0" marR="0" lvl="0" indent="0" algn="r" defTabSz="914400" rtl="1" eaLnBrk="1" fontAlgn="auto" latinLnBrk="0" hangingPunct="1">
                        <a:lnSpc>
                          <a:spcPct val="100000"/>
                        </a:lnSpc>
                        <a:spcBef>
                          <a:spcPts val="0"/>
                        </a:spcBef>
                        <a:spcAft>
                          <a:spcPts val="0"/>
                        </a:spcAft>
                        <a:buClrTx/>
                        <a:buSzTx/>
                        <a:buFontTx/>
                        <a:buNone/>
                        <a:tabLst/>
                        <a:defRPr/>
                      </a:pPr>
                      <a:r>
                        <a:rPr lang="fa-IR" sz="1400" dirty="0">
                          <a:solidFill>
                            <a:srgbClr val="0070C0"/>
                          </a:solidFill>
                          <a:cs typeface="B Nazanin" panose="00000400000000000000" pitchFamily="2" charset="-78"/>
                        </a:rPr>
                        <a:t>اجرای پروژه پورتال شهرداری همدان</a:t>
                      </a:r>
                      <a:endParaRPr lang="en-US" sz="1400" dirty="0">
                        <a:solidFill>
                          <a:srgbClr val="0070C0"/>
                        </a:solidFill>
                        <a:cs typeface="B Nazanin" panose="00000400000000000000" pitchFamily="2" charset="-78"/>
                      </a:endParaRPr>
                    </a:p>
                  </a:txBody>
                  <a:tcPr/>
                </a:tc>
                <a:extLst>
                  <a:ext uri="{0D108BD9-81ED-4DB2-BD59-A6C34878D82A}">
                    <a16:rowId xmlns="" xmlns:a16="http://schemas.microsoft.com/office/drawing/2014/main" val="296457189"/>
                  </a:ext>
                </a:extLst>
              </a:tr>
              <a:tr h="338049">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350" dirty="0" smtClean="0">
                          <a:solidFill>
                            <a:srgbClr val="0070C0"/>
                          </a:solidFill>
                          <a:cs typeface="B Nazanin" panose="00000400000000000000" pitchFamily="2" charset="-78"/>
                        </a:rPr>
                        <a:t>بهره برداری 14/11 بهمن ماه که روز فناوری فضایی است صورت می گیرد.</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350" dirty="0" smtClean="0">
                          <a:solidFill>
                            <a:srgbClr val="0070C0"/>
                          </a:solidFill>
                          <a:cs typeface="B Nazanin" panose="00000400000000000000" pitchFamily="2" charset="-78"/>
                        </a:rPr>
                        <a:t>نهایی سازی خدمات الکترونیکی(فرم ها از کارفرما دریافت نشده</a:t>
                      </a:r>
                      <a:r>
                        <a:rPr lang="fa-IR" sz="1350" dirty="0" smtClean="0">
                          <a:solidFill>
                            <a:srgbClr val="0070C0"/>
                          </a:solidFill>
                          <a:cs typeface="B Nazanin" panose="00000400000000000000" pitchFamily="2" charset="-78"/>
                        </a:rPr>
                        <a:t>)</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200" dirty="0" smtClean="0">
                          <a:solidFill>
                            <a:srgbClr val="0070C0"/>
                          </a:solidFill>
                          <a:cs typeface="B Nazanin" panose="00000400000000000000" pitchFamily="2" charset="-78"/>
                        </a:rPr>
                        <a:t>تست و نهایی سازی برنامه موبایل</a:t>
                      </a:r>
                    </a:p>
                  </a:txBody>
                  <a:tcPr/>
                </a:tc>
                <a:tc>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400" dirty="0">
                          <a:solidFill>
                            <a:srgbClr val="0070C0"/>
                          </a:solidFill>
                          <a:cs typeface="B Nazanin" panose="00000400000000000000" pitchFamily="2" charset="-78"/>
                        </a:rPr>
                        <a:t>اجرای پروژه سازمان فضایی</a:t>
                      </a:r>
                    </a:p>
                  </a:txBody>
                  <a:tcPr/>
                </a:tc>
                <a:extLst>
                  <a:ext uri="{0D108BD9-81ED-4DB2-BD59-A6C34878D82A}">
                    <a16:rowId xmlns="" xmlns:a16="http://schemas.microsoft.com/office/drawing/2014/main" val="1673468056"/>
                  </a:ext>
                </a:extLst>
              </a:tr>
              <a:tr h="338049">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توسعه دو فرایند اخذ نمایندگی و استعلام خسارت بیمه </a:t>
                      </a:r>
                      <a:r>
                        <a:rPr lang="fa-IR" sz="1400" dirty="0" smtClean="0">
                          <a:solidFill>
                            <a:srgbClr val="0070C0"/>
                          </a:solidFill>
                          <a:cs typeface="B Nazanin" panose="00000400000000000000" pitchFamily="2" charset="-78"/>
                        </a:rPr>
                        <a:t>عمر</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dirty="0" smtClean="0">
                          <a:solidFill>
                            <a:srgbClr val="0070C0"/>
                          </a:solidFill>
                          <a:latin typeface="+mn-lt"/>
                          <a:ea typeface="+mn-ea"/>
                          <a:cs typeface="B Nazanin" panose="00000400000000000000" pitchFamily="2" charset="-78"/>
                        </a:rPr>
                        <a:t>تحویل بساما.</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dirty="0" smtClean="0">
                          <a:solidFill>
                            <a:srgbClr val="0070C0"/>
                          </a:solidFill>
                          <a:latin typeface="+mn-lt"/>
                          <a:ea typeface="+mn-ea"/>
                          <a:cs typeface="B Nazanin" panose="00000400000000000000" pitchFamily="2" charset="-78"/>
                        </a:rPr>
                        <a:t>کاربران نمایندگان و شعب</a:t>
                      </a:r>
                    </a:p>
                  </a:txBody>
                  <a:tcPr/>
                </a:tc>
                <a:tc>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400" dirty="0">
                          <a:solidFill>
                            <a:srgbClr val="0070C0"/>
                          </a:solidFill>
                          <a:cs typeface="B Nazanin" panose="00000400000000000000" pitchFamily="2" charset="-78"/>
                        </a:rPr>
                        <a:t>اجرای پروژه بیمه سامان</a:t>
                      </a:r>
                    </a:p>
                  </a:txBody>
                  <a:tcPr/>
                </a:tc>
                <a:extLst>
                  <a:ext uri="{0D108BD9-81ED-4DB2-BD59-A6C34878D82A}">
                    <a16:rowId xmlns="" xmlns:a16="http://schemas.microsoft.com/office/drawing/2014/main" val="2087798963"/>
                  </a:ext>
                </a:extLst>
              </a:tr>
              <a:tr h="338049">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اجرای دو درگاه سازمانی درگاه استانی – ادارات داخلی</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اجرای زیر پورتال </a:t>
                      </a:r>
                      <a:r>
                        <a:rPr lang="fa-IR" sz="1400" dirty="0" smtClean="0">
                          <a:solidFill>
                            <a:srgbClr val="0070C0"/>
                          </a:solidFill>
                          <a:cs typeface="B Nazanin" panose="00000400000000000000" pitchFamily="2" charset="-78"/>
                        </a:rPr>
                        <a:t>خبری</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dirty="0" smtClean="0">
                          <a:solidFill>
                            <a:srgbClr val="0070C0"/>
                          </a:solidFill>
                          <a:latin typeface="+mn-lt"/>
                          <a:ea typeface="+mn-ea"/>
                          <a:cs typeface="B Nazanin" panose="00000400000000000000" pitchFamily="2" charset="-78"/>
                        </a:rPr>
                        <a:t>شش ساعت آموزش</a:t>
                      </a:r>
                      <a:endParaRPr lang="en-US" sz="1400" kern="1200" dirty="0" smtClean="0">
                        <a:solidFill>
                          <a:srgbClr val="0070C0"/>
                        </a:solidFill>
                        <a:latin typeface="+mn-lt"/>
                        <a:ea typeface="+mn-ea"/>
                        <a:cs typeface="B Nazanin" panose="00000400000000000000" pitchFamily="2" charset="-78"/>
                      </a:endParaRP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dirty="0" smtClean="0">
                          <a:solidFill>
                            <a:srgbClr val="0070C0"/>
                          </a:solidFill>
                          <a:latin typeface="+mn-lt"/>
                          <a:ea typeface="+mn-ea"/>
                          <a:cs typeface="B Nazanin" panose="00000400000000000000" pitchFamily="2" charset="-78"/>
                        </a:rPr>
                        <a:t>نصب و پیکربندی سرور میرور</a:t>
                      </a:r>
                      <a:endParaRPr lang="en-US" sz="1400" kern="1200" dirty="0" smtClean="0">
                        <a:solidFill>
                          <a:srgbClr val="0070C0"/>
                        </a:solidFill>
                        <a:latin typeface="+mn-lt"/>
                        <a:ea typeface="+mn-ea"/>
                        <a:cs typeface="B Nazanin" panose="00000400000000000000" pitchFamily="2" charset="-78"/>
                      </a:endParaRP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kern="1200" dirty="0" smtClean="0">
                          <a:solidFill>
                            <a:srgbClr val="0070C0"/>
                          </a:solidFill>
                          <a:latin typeface="+mn-lt"/>
                          <a:ea typeface="+mn-ea"/>
                          <a:cs typeface="B Nazanin" panose="00000400000000000000" pitchFamily="2" charset="-78"/>
                        </a:rPr>
                        <a:t>اجرای دو درگاه سازمانی(درگاه استانی- ادارات داخل مجموعه) – در این مورد در انتظار ارساال نیازمندی های آن هستیم که این امر تا هفته آینده اجرای آن شروع می شود)</a:t>
                      </a:r>
                      <a:endParaRPr lang="en-US" sz="1400" kern="1200" dirty="0" smtClean="0">
                        <a:solidFill>
                          <a:srgbClr val="0070C0"/>
                        </a:solidFill>
                        <a:latin typeface="+mn-lt"/>
                        <a:ea typeface="+mn-ea"/>
                        <a:cs typeface="B Nazanin" panose="00000400000000000000" pitchFamily="2" charset="-78"/>
                      </a:endParaRP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endParaRPr lang="fa-IR" sz="1400" dirty="0" smtClean="0">
                        <a:solidFill>
                          <a:srgbClr val="0070C0"/>
                        </a:solidFill>
                        <a:cs typeface="B Nazanin" panose="00000400000000000000" pitchFamily="2" charset="-78"/>
                      </a:endParaRPr>
                    </a:p>
                  </a:txBody>
                  <a:tcPr/>
                </a:tc>
                <a:tc>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400" dirty="0">
                          <a:solidFill>
                            <a:srgbClr val="0070C0"/>
                          </a:solidFill>
                          <a:cs typeface="B Nazanin" panose="00000400000000000000" pitchFamily="2" charset="-78"/>
                        </a:rPr>
                        <a:t>اجرای پروژه بانک توسعه تعاون</a:t>
                      </a:r>
                    </a:p>
                  </a:txBody>
                  <a:tcPr/>
                </a:tc>
                <a:extLst>
                  <a:ext uri="{0D108BD9-81ED-4DB2-BD59-A6C34878D82A}">
                    <a16:rowId xmlns="" xmlns:a16="http://schemas.microsoft.com/office/drawing/2014/main" val="953170424"/>
                  </a:ext>
                </a:extLst>
              </a:tr>
              <a:tr h="338049">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کانورت اطلاعات</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استعلامات</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زیر پورتال انگلیسی</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صورتجلسه تحویل نرم افزر</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صورتجلسه تحویل پورتال فارسی</a:t>
                      </a:r>
                      <a:endParaRPr lang="fa-IR" sz="1400" dirty="0">
                        <a:solidFill>
                          <a:srgbClr val="0070C0"/>
                        </a:solidFill>
                        <a:cs typeface="B Nazanin" panose="00000400000000000000" pitchFamily="2" charset="-78"/>
                      </a:endParaRPr>
                    </a:p>
                  </a:txBody>
                  <a:tcPr/>
                </a:tc>
                <a:tc>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400" dirty="0">
                          <a:solidFill>
                            <a:srgbClr val="0070C0"/>
                          </a:solidFill>
                          <a:cs typeface="B Nazanin" panose="00000400000000000000" pitchFamily="2" charset="-78"/>
                        </a:rPr>
                        <a:t>اجرای بانک اقتصاد نوین</a:t>
                      </a:r>
                    </a:p>
                  </a:txBody>
                  <a:tcPr/>
                </a:tc>
                <a:extLst>
                  <a:ext uri="{0D108BD9-81ED-4DB2-BD59-A6C34878D82A}">
                    <a16:rowId xmlns="" xmlns:a16="http://schemas.microsoft.com/office/drawing/2014/main" val="3556129720"/>
                  </a:ext>
                </a:extLst>
              </a:tr>
              <a:tr h="338049">
                <a:tc>
                  <a:txBody>
                    <a:bodyPr/>
                    <a:lstStyle/>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نهایی سازی محدوده فرایندها</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dirty="0" smtClean="0">
                          <a:solidFill>
                            <a:srgbClr val="0070C0"/>
                          </a:solidFill>
                          <a:cs typeface="B Nazanin" panose="00000400000000000000" pitchFamily="2" charset="-78"/>
                        </a:rPr>
                        <a:t>تحلیل</a:t>
                      </a:r>
                      <a:r>
                        <a:rPr lang="fa-IR" sz="1400" baseline="0" dirty="0" smtClean="0">
                          <a:solidFill>
                            <a:srgbClr val="0070C0"/>
                          </a:solidFill>
                          <a:cs typeface="B Nazanin" panose="00000400000000000000" pitchFamily="2" charset="-78"/>
                        </a:rPr>
                        <a:t> چهار فرایند </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baseline="0" dirty="0" smtClean="0">
                          <a:solidFill>
                            <a:srgbClr val="0070C0"/>
                          </a:solidFill>
                          <a:cs typeface="B Nazanin" panose="00000400000000000000" pitchFamily="2" charset="-78"/>
                        </a:rPr>
                        <a:t>نهایی سازی معماری محتوا و طراحیگرافیکی پورتال اصلی</a:t>
                      </a:r>
                    </a:p>
                    <a:p>
                      <a:pPr marL="285750" marR="0" lvl="0" indent="-285750" algn="r" defTabSz="914400" rtl="1" eaLnBrk="1" fontAlgn="auto" latinLnBrk="0" hangingPunct="1">
                        <a:lnSpc>
                          <a:spcPct val="100000"/>
                        </a:lnSpc>
                        <a:spcBef>
                          <a:spcPts val="0"/>
                        </a:spcBef>
                        <a:spcAft>
                          <a:spcPts val="0"/>
                        </a:spcAft>
                        <a:buClrTx/>
                        <a:buSzTx/>
                        <a:buFont typeface="Arial" panose="020B0604020202020204" pitchFamily="34" charset="0"/>
                        <a:buChar char="•"/>
                        <a:tabLst/>
                        <a:defRPr/>
                      </a:pPr>
                      <a:r>
                        <a:rPr lang="fa-IR" sz="1400" baseline="0" dirty="0" smtClean="0">
                          <a:solidFill>
                            <a:srgbClr val="0070C0"/>
                          </a:solidFill>
                          <a:cs typeface="B Nazanin" panose="00000400000000000000" pitchFamily="2" charset="-78"/>
                        </a:rPr>
                        <a:t>نصب و راه اندازی پورتال سامان سویت بر روی سرور کارفرما</a:t>
                      </a:r>
                      <a:endParaRPr lang="fa-IR" sz="1400" dirty="0">
                        <a:solidFill>
                          <a:srgbClr val="0070C0"/>
                        </a:solidFill>
                        <a:cs typeface="B Nazanin" panose="00000400000000000000" pitchFamily="2" charset="-78"/>
                      </a:endParaRPr>
                    </a:p>
                  </a:txBody>
                  <a:tcPr/>
                </a:tc>
                <a:tc>
                  <a:txBody>
                    <a:bodyPr/>
                    <a:lstStyle/>
                    <a:p>
                      <a:pPr marL="0" marR="0" lvl="0" indent="0" algn="r" defTabSz="914400" rtl="1" eaLnBrk="1" fontAlgn="auto" latinLnBrk="0" hangingPunct="1">
                        <a:lnSpc>
                          <a:spcPct val="100000"/>
                        </a:lnSpc>
                        <a:spcBef>
                          <a:spcPts val="0"/>
                        </a:spcBef>
                        <a:spcAft>
                          <a:spcPts val="0"/>
                        </a:spcAft>
                        <a:buClrTx/>
                        <a:buSzTx/>
                        <a:buFont typeface="Arial" panose="020B0604020202020204" pitchFamily="34" charset="0"/>
                        <a:buNone/>
                        <a:tabLst/>
                        <a:defRPr/>
                      </a:pPr>
                      <a:r>
                        <a:rPr lang="fa-IR" sz="1400" dirty="0" smtClean="0">
                          <a:solidFill>
                            <a:srgbClr val="0070C0"/>
                          </a:solidFill>
                          <a:cs typeface="B Nazanin" panose="00000400000000000000" pitchFamily="2" charset="-78"/>
                        </a:rPr>
                        <a:t>صندوق</a:t>
                      </a:r>
                      <a:r>
                        <a:rPr lang="fa-IR" sz="1400" baseline="0" dirty="0" smtClean="0">
                          <a:solidFill>
                            <a:srgbClr val="0070C0"/>
                          </a:solidFill>
                          <a:cs typeface="B Nazanin" panose="00000400000000000000" pitchFamily="2" charset="-78"/>
                        </a:rPr>
                        <a:t> توسعه صنایع دریایی</a:t>
                      </a:r>
                      <a:endParaRPr lang="fa-IR" sz="1400" dirty="0">
                        <a:solidFill>
                          <a:srgbClr val="0070C0"/>
                        </a:solidFill>
                        <a:cs typeface="B Nazanin" panose="00000400000000000000" pitchFamily="2" charset="-78"/>
                      </a:endParaRPr>
                    </a:p>
                  </a:txBody>
                  <a:tcPr/>
                </a:tc>
              </a:tr>
            </a:tbl>
          </a:graphicData>
        </a:graphic>
      </p:graphicFrame>
    </p:spTree>
    <p:extLst>
      <p:ext uri="{BB962C8B-B14F-4D97-AF65-F5344CB8AC3E}">
        <p14:creationId xmlns:p14="http://schemas.microsoft.com/office/powerpoint/2010/main" val="15277482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1577</Words>
  <Application>Microsoft Office PowerPoint</Application>
  <PresentationFormat>On-screen Show (4:3)</PresentationFormat>
  <Paragraphs>379</Paragraphs>
  <Slides>17</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B Nazanin</vt:lpstr>
      <vt:lpstr>B Titr</vt:lpstr>
      <vt:lpstr>Calibri</vt:lpstr>
      <vt:lpstr>Office Theme</vt:lpstr>
      <vt:lpstr>گزارش عملکرد و برنامه هاي  واحد « امور پروژه ها » دی1398</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پروژه های استقرار پورتال</vt:lpstr>
      <vt:lpstr>گزارش ماه – اقدامات منابع انسانی و درون سازمانی</vt:lpstr>
      <vt:lpstr>برنامه ریزی ماه آتی - پروژه های استقرار پورتال</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2013-12-27T07:50:55Z</dcterms:created>
  <dcterms:modified xsi:type="dcterms:W3CDTF">2020-01-21T17:51:56Z</dcterms:modified>
</cp:coreProperties>
</file>
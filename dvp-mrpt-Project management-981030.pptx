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removePersonalInfoOnSave="1" saveSubsetFonts="1">
  <p:sldMasterIdLst>
    <p:sldMasterId id="2147483648" r:id="rId1"/>
  </p:sldMasterIdLst>
  <p:notesMasterIdLst>
    <p:notesMasterId r:id="rId12"/>
  </p:notesMasterIdLst>
  <p:sldIdLst>
    <p:sldId id="270" r:id="rId2"/>
    <p:sldId id="345" r:id="rId3"/>
    <p:sldId id="363" r:id="rId4"/>
    <p:sldId id="361" r:id="rId5"/>
    <p:sldId id="365" r:id="rId6"/>
    <p:sldId id="364" r:id="rId7"/>
    <p:sldId id="362" r:id="rId8"/>
    <p:sldId id="353" r:id="rId9"/>
    <p:sldId id="358" r:id="rId10"/>
    <p:sldId id="36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ACF"/>
    <a:srgbClr val="D68B1C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380"/>
    <p:restoredTop sz="94660"/>
  </p:normalViewPr>
  <p:slideViewPr>
    <p:cSldViewPr>
      <p:cViewPr varScale="1">
        <p:scale>
          <a:sx n="116" d="100"/>
          <a:sy n="116" d="100"/>
        </p:scale>
        <p:origin x="146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10D5-C58A-4A8B-B6DD-4A4C27DBF07F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4BA9-825C-47F5-8F9E-8DF546799C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1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نگهدارنده مکان تصویر اسلاید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نگهدارنده مکان نك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نگهدارنده مکان شماره اسلاید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2F4BA9-825C-47F5-8F9E-8DF546799CC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33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نگهدارنده مکان تصویر اسلاید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نگهدارنده مکان نك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نگهدارنده مکان شماره اسلاید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2F4BA9-825C-47F5-8F9E-8DF546799CC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63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نگهدارنده مکان تصویر اسلاید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نگهدارنده مکان نك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نگهدارنده مکان شماره اسلاید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2F4BA9-825C-47F5-8F9E-8DF546799CC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45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9785" y="1901950"/>
            <a:ext cx="7772400" cy="162273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4130" y="3887114"/>
            <a:ext cx="64008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680310"/>
            <a:ext cx="82296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291130"/>
            <a:ext cx="8229600" cy="3918803"/>
          </a:xfrm>
        </p:spPr>
        <p:txBody>
          <a:bodyPr/>
          <a:lstStyle>
            <a:lvl1pPr>
              <a:defRPr sz="2800">
                <a:solidFill>
                  <a:srgbClr val="018ACF"/>
                </a:solidFill>
              </a:defRPr>
            </a:lvl1pPr>
            <a:lvl2pPr>
              <a:defRPr>
                <a:solidFill>
                  <a:srgbClr val="018ACF"/>
                </a:solidFill>
              </a:defRPr>
            </a:lvl2pPr>
            <a:lvl3pPr>
              <a:defRPr>
                <a:solidFill>
                  <a:srgbClr val="018ACF"/>
                </a:solidFill>
              </a:defRPr>
            </a:lvl3pPr>
            <a:lvl4pPr>
              <a:defRPr>
                <a:solidFill>
                  <a:srgbClr val="018ACF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3310" y="527605"/>
            <a:ext cx="7016195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18AC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3311" y="1138425"/>
            <a:ext cx="7016195" cy="4275740"/>
          </a:xfrm>
        </p:spPr>
        <p:txBody>
          <a:bodyPr/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527605"/>
            <a:ext cx="82296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965" y="1272087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18AC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965" y="1901950"/>
            <a:ext cx="4040188" cy="3035058"/>
          </a:xfrm>
        </p:spPr>
        <p:txBody>
          <a:bodyPr/>
          <a:lstStyle>
            <a:lvl1pPr>
              <a:defRPr sz="2400"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accent1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6790" y="1272087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18ACF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6790" y="1901950"/>
            <a:ext cx="4041775" cy="3035058"/>
          </a:xfrm>
        </p:spPr>
        <p:txBody>
          <a:bodyPr/>
          <a:lstStyle>
            <a:lvl1pPr>
              <a:defRPr sz="2400"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 sz="2000"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 sz="1800"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 sz="1600"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 sz="1600">
                <a:solidFill>
                  <a:schemeClr val="accent1">
                    <a:lumMod val="75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12490" y="2512770"/>
            <a:ext cx="7787955" cy="610820"/>
          </a:xfrm>
        </p:spPr>
        <p:txBody>
          <a:bodyPr>
            <a:noAutofit/>
          </a:bodyPr>
          <a:lstStyle/>
          <a:p>
            <a:pPr algn="ctr" rtl="1"/>
            <a:r>
              <a:rPr lang="fa-IR" sz="4000" dirty="0">
                <a:cs typeface="B Titr" panose="00000700000000000000" pitchFamily="2" charset="-78"/>
              </a:rPr>
              <a:t>گزارش عملکرد </a:t>
            </a:r>
            <a:r>
              <a:rPr lang="fa-IR" sz="4000" dirty="0" smtClean="0">
                <a:cs typeface="B Titr" panose="00000700000000000000" pitchFamily="2" charset="-78"/>
              </a:rPr>
              <a:t>دی و </a:t>
            </a:r>
            <a:r>
              <a:rPr lang="fa-IR" sz="4000" dirty="0">
                <a:cs typeface="B Titr" panose="00000700000000000000" pitchFamily="2" charset="-78"/>
              </a:rPr>
              <a:t>برنامه </a:t>
            </a:r>
            <a:r>
              <a:rPr lang="fa-IR" sz="4000" dirty="0" smtClean="0">
                <a:cs typeface="B Titr" panose="00000700000000000000" pitchFamily="2" charset="-78"/>
              </a:rPr>
              <a:t>بهمن </a:t>
            </a:r>
            <a:r>
              <a:rPr lang="fa-IR" sz="4000" dirty="0">
                <a:cs typeface="B Titr" panose="00000700000000000000" pitchFamily="2" charset="-78"/>
              </a:rPr>
              <a:t/>
            </a:r>
            <a:br>
              <a:rPr lang="fa-IR" sz="4000" dirty="0">
                <a:cs typeface="B Titr" panose="00000700000000000000" pitchFamily="2" charset="-78"/>
              </a:rPr>
            </a:br>
            <a:r>
              <a:rPr lang="fa-IR" sz="4000" dirty="0">
                <a:cs typeface="B Titr" panose="00000700000000000000" pitchFamily="2" charset="-78"/>
              </a:rPr>
              <a:t>واحد « </a:t>
            </a:r>
            <a:r>
              <a:rPr lang="fa-IR" sz="4000" dirty="0" smtClean="0">
                <a:cs typeface="B Titr" panose="00000700000000000000" pitchFamily="2" charset="-78"/>
              </a:rPr>
              <a:t>طراحی وب»</a:t>
            </a:r>
            <a:r>
              <a:rPr lang="fa-IR" sz="4000" dirty="0">
                <a:cs typeface="B Titr" panose="00000700000000000000" pitchFamily="2" charset="-78"/>
              </a:rPr>
              <a:t/>
            </a:r>
            <a:br>
              <a:rPr lang="fa-IR" sz="4000" dirty="0">
                <a:cs typeface="B Titr" panose="00000700000000000000" pitchFamily="2" charset="-78"/>
              </a:rPr>
            </a:br>
            <a:r>
              <a:rPr lang="fa-IR" sz="4000" dirty="0" smtClean="0">
                <a:cs typeface="B Titr" panose="00000700000000000000" pitchFamily="2" charset="-78"/>
              </a:rPr>
              <a:t>1398</a:t>
            </a:r>
            <a:endParaRPr lang="en-US" sz="4000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19501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714814"/>
            <a:ext cx="8229600" cy="458115"/>
          </a:xfrm>
        </p:spPr>
        <p:txBody>
          <a:bodyPr>
            <a:normAutofit/>
          </a:bodyPr>
          <a:lstStyle/>
          <a:p>
            <a:pPr algn="r" rtl="1"/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گزارش عملکرد </a:t>
            </a:r>
            <a:r>
              <a:rPr lang="fa-IR" sz="2400" dirty="0" smtClean="0">
                <a:solidFill>
                  <a:srgbClr val="0070C0"/>
                </a:solidFill>
                <a:cs typeface="B Titr" panose="00000700000000000000" pitchFamily="2" charset="-78"/>
              </a:rPr>
              <a:t>دی </a:t>
            </a:r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ماه واحد طراحی وب</a:t>
            </a:r>
            <a:endParaRPr lang="en-US" sz="2400" dirty="0">
              <a:solidFill>
                <a:srgbClr val="0070C0"/>
              </a:solidFill>
              <a:cs typeface="B Titr" panose="00000700000000000000" pitchFamily="2" charset="-78"/>
            </a:endParaRPr>
          </a:p>
        </p:txBody>
      </p:sp>
      <p:graphicFrame>
        <p:nvGraphicFramePr>
          <p:cNvPr id="4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004707"/>
              </p:ext>
            </p:extLst>
          </p:nvPr>
        </p:nvGraphicFramePr>
        <p:xfrm>
          <a:off x="323530" y="1628800"/>
          <a:ext cx="8424935" cy="473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410"/>
                <a:gridCol w="2984418"/>
                <a:gridCol w="2555873"/>
                <a:gridCol w="2106234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تحقق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عملکرد ماه</a:t>
                      </a:r>
                      <a:endParaRPr lang="en-US" sz="1400" dirty="0" smtClean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Nazanin" panose="00000400000000000000" pitchFamily="2" charset="-78"/>
                        </a:rPr>
                        <a:t>هدف </a:t>
                      </a: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ماه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سرفصل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709280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100%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60 نفرساعت</a:t>
                      </a:r>
                      <a:endParaRPr lang="en-US" sz="1100" dirty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r" defTabSz="914400" rtl="1" eaLnBrk="1" latinLnBrk="0" hangingPunct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kern="12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زیرپورتال طرح های زیربنایی ایمیدرو</a:t>
                      </a:r>
                    </a:p>
                    <a:p>
                      <a:pPr marL="628650" lvl="1" indent="-1714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kern="12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ارائه خدمات آموزش </a:t>
                      </a: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</a:t>
                      </a:r>
                    </a:p>
                    <a:p>
                      <a:pPr marL="628650" lvl="1" indent="-1714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برگزاری جلسه شناخت نیازمندی صفحات داخلی</a:t>
                      </a: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ساختار محتوا و طراحی چیدمان صفحات داخلی</a:t>
                      </a: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</a:t>
                      </a:r>
                    </a:p>
                    <a:p>
                      <a:pPr marL="628650" lvl="1" indent="-1714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صفحات داخلی</a:t>
                      </a:r>
                      <a:endParaRPr lang="fa-IR" sz="1200" baseline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  <a:p>
                      <a:pPr marL="228600" marR="0" lvl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طراحی چیدمان </a:t>
                      </a:r>
                    </a:p>
                    <a:p>
                      <a:pPr marL="628650" lvl="1" indent="-1714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طرح ها و پروژه ها </a:t>
                      </a:r>
                    </a:p>
                    <a:p>
                      <a:pPr marL="628650" lvl="1" indent="-1714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سیاست ها</a:t>
                      </a:r>
                    </a:p>
                    <a:p>
                      <a:pPr marL="228600" marR="0" lvl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طراحی گرافیکی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طرح ها و پروژه ها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سیاست ها</a:t>
                      </a:r>
                    </a:p>
                    <a:p>
                      <a:pPr marL="228600" marR="0" lvl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نمای گرافیکی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طرح ها و پروژه ها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سیاست ها</a:t>
                      </a:r>
                    </a:p>
                    <a:p>
                      <a:pPr marL="228600" marR="0" lvl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اصلاحات درخواستی کارفرما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کلیه صفحات داخلی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algn="r" defTabSz="914400" rtl="1" eaLnBrk="1" latinLnBrk="0" hangingPunct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kern="12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زیرپورتال طرح های زیربنایی ایمیدرو</a:t>
                      </a:r>
                    </a:p>
                    <a:p>
                      <a:pPr marL="628650" lvl="1" indent="-1714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kern="12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ارائه خدمات آموزش </a:t>
                      </a: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</a:t>
                      </a:r>
                    </a:p>
                    <a:p>
                      <a:pPr marL="628650" lvl="1" indent="-1714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برگزاری جلسه شناخت نیازمندی صفحات داخلی</a:t>
                      </a: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ساختار محتوا و طراحی چیدمان صفحات داخلی</a:t>
                      </a: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</a:t>
                      </a:r>
                    </a:p>
                    <a:p>
                      <a:pPr marL="628650" lvl="1" indent="-1714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صفحات داخلی</a:t>
                      </a:r>
                      <a:endParaRPr lang="fa-IR" sz="1200" baseline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  <a:p>
                      <a:pPr marL="228600" marR="0" lvl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طراحی چیدمان </a:t>
                      </a:r>
                    </a:p>
                    <a:p>
                      <a:pPr marL="628650" lvl="1" indent="-1714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طرح ها و پروژه ها </a:t>
                      </a:r>
                    </a:p>
                    <a:p>
                      <a:pPr marL="628650" lvl="1" indent="-171450" algn="r" defTabSz="914400" rtl="1" eaLnBrk="1" latinLnBrk="0" hangingPunct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سیاست ها</a:t>
                      </a:r>
                    </a:p>
                    <a:p>
                      <a:pPr marL="228600" marR="0" lvl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طراحی گرافیکی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طرح ها و پروژه ها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سیاست ها</a:t>
                      </a:r>
                    </a:p>
                    <a:p>
                      <a:pPr marL="228600" marR="0" lvl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نمای گرافیکی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طرح ها و پروژه ها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سیاست ها</a:t>
                      </a:r>
                    </a:p>
                    <a:p>
                      <a:pPr marL="228600" marR="0" lvl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اصلاحات درخواستی کارفرما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کلیه صفحات داخلی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ایمیدرو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203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714814"/>
            <a:ext cx="8229600" cy="458115"/>
          </a:xfrm>
        </p:spPr>
        <p:txBody>
          <a:bodyPr>
            <a:normAutofit/>
          </a:bodyPr>
          <a:lstStyle/>
          <a:p>
            <a:pPr algn="r" rtl="1"/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گزارش عملکرد </a:t>
            </a:r>
            <a:r>
              <a:rPr lang="fa-IR" sz="2400" dirty="0" smtClean="0">
                <a:solidFill>
                  <a:srgbClr val="0070C0"/>
                </a:solidFill>
                <a:cs typeface="B Titr" panose="00000700000000000000" pitchFamily="2" charset="-78"/>
              </a:rPr>
              <a:t>دی </a:t>
            </a:r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ماه واحد طراحی وب</a:t>
            </a:r>
            <a:endParaRPr lang="en-US" sz="2400" dirty="0">
              <a:solidFill>
                <a:srgbClr val="0070C0"/>
              </a:solidFill>
              <a:cs typeface="B Titr" panose="00000700000000000000" pitchFamily="2" charset="-78"/>
            </a:endParaRPr>
          </a:p>
        </p:txBody>
      </p:sp>
      <p:graphicFrame>
        <p:nvGraphicFramePr>
          <p:cNvPr id="4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906491"/>
              </p:ext>
            </p:extLst>
          </p:nvPr>
        </p:nvGraphicFramePr>
        <p:xfrm>
          <a:off x="323529" y="1628800"/>
          <a:ext cx="8424935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410"/>
                <a:gridCol w="2984418"/>
                <a:gridCol w="2555873"/>
                <a:gridCol w="2106234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تحقق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عملکرد ماه</a:t>
                      </a:r>
                      <a:endParaRPr lang="en-US" sz="1400" dirty="0" smtClean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Nazanin" panose="00000400000000000000" pitchFamily="2" charset="-78"/>
                        </a:rPr>
                        <a:t>هدف </a:t>
                      </a: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ماه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سرفصل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70%</a:t>
                      </a:r>
                    </a:p>
                    <a:p>
                      <a:pPr algn="ctr" rtl="1"/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60 نفر ساعت</a:t>
                      </a:r>
                    </a:p>
                    <a:p>
                      <a:pPr algn="ctr" rtl="1"/>
                      <a:endParaRPr lang="fa-IR" sz="1100" dirty="0" smtClean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طراحی نمای گرافیکی</a:t>
                      </a:r>
                    </a:p>
                    <a:p>
                      <a:pPr marL="628650" lvl="1" indent="-1714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پورتال اصلی فارسی</a:t>
                      </a:r>
                      <a:endParaRPr lang="fa-IR" sz="1100" b="1" baseline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نمای گرافیکی</a:t>
                      </a:r>
                    </a:p>
                    <a:p>
                      <a:pPr marL="628650" lvl="1" indent="-1714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پورتال اصلی فارسی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ساختار محتوا و منوها</a:t>
                      </a:r>
                    </a:p>
                    <a:p>
                      <a:pPr marL="628650" lvl="1" indent="-1714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پورتال اصلی فارسی</a:t>
                      </a:r>
                    </a:p>
                    <a:p>
                      <a:pPr marL="228600" lvl="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آموزش پنل توسعه به کارفرما</a:t>
                      </a:r>
                    </a:p>
                    <a:p>
                      <a:pPr marL="0" lvl="0" indent="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fa-IR" sz="1100" baseline="0" dirty="0" smtClean="0">
                          <a:solidFill>
                            <a:srgbClr val="0070C0"/>
                          </a:solidFill>
                          <a:cs typeface="B Nazanin" panose="00000400000000000000" pitchFamily="2" charset="-78"/>
                        </a:rPr>
                        <a:t>* طرح گرافیکی صفحات داخلی توسط کارفرما ارائه گردیده است،</a:t>
                      </a:r>
                    </a:p>
                    <a:p>
                      <a:pPr marL="0" lvl="0" indent="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fa-IR" sz="1100" baseline="0" dirty="0" smtClean="0">
                          <a:solidFill>
                            <a:srgbClr val="0070C0"/>
                          </a:solidFill>
                          <a:cs typeface="B Nazanin" panose="00000400000000000000" pitchFamily="2" charset="-78"/>
                        </a:rPr>
                        <a:t>طبق هماهنگی صورت گرفته، پیاده سازی صفحات داخلی به عهده</a:t>
                      </a:r>
                    </a:p>
                    <a:p>
                      <a:pPr marL="0" lvl="0" indent="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fa-IR" sz="1100" baseline="0" dirty="0" smtClean="0">
                          <a:solidFill>
                            <a:srgbClr val="0070C0"/>
                          </a:solidFill>
                          <a:cs typeface="B Nazanin" panose="00000400000000000000" pitchFamily="2" charset="-78"/>
                        </a:rPr>
                        <a:t>کارفرما می باشد.</a:t>
                      </a:r>
                    </a:p>
                    <a:p>
                      <a:pPr marL="0" lvl="0" indent="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fa-IR" sz="1100" baseline="0" dirty="0" smtClean="0">
                          <a:solidFill>
                            <a:srgbClr val="0070C0"/>
                          </a:solidFill>
                          <a:cs typeface="B Nazanin" panose="00000400000000000000" pitchFamily="2" charset="-78"/>
                        </a:rPr>
                        <a:t>* همچنین ارجاع پورتال لاتین از سوی کارفرما در ماه جاری انجام نگردید.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نمای گرافیکی</a:t>
                      </a:r>
                    </a:p>
                    <a:p>
                      <a:pPr marL="628650" lvl="1" indent="-1714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پورتال اصلی فارسی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پورتال اصلی لاتین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ساختار محتوا و منوها</a:t>
                      </a:r>
                    </a:p>
                    <a:p>
                      <a:pPr marL="628650" lvl="1" indent="-1714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پورتال اصلی فارسی</a:t>
                      </a:r>
                    </a:p>
                    <a:p>
                      <a:pPr marL="628650" lvl="1" indent="-1714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پورتال اصلی لاتین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طراحی گرافیکی صفحات داخلی اختصاصی</a:t>
                      </a:r>
                    </a:p>
                    <a:p>
                      <a:pPr marL="0" indent="0" algn="r" rtl="1">
                        <a:lnSpc>
                          <a:spcPct val="150000"/>
                        </a:lnSpc>
                        <a:buFont typeface="+mj-lt"/>
                        <a:buNone/>
                      </a:pPr>
                      <a:endParaRPr lang="fa-IR" sz="1100" b="1" baseline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  <a:p>
                      <a:pPr marL="0" lvl="0" indent="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fa-IR" sz="1100" baseline="0" dirty="0" smtClean="0">
                          <a:solidFill>
                            <a:srgbClr val="0070C0"/>
                          </a:solidFill>
                          <a:cs typeface="B Nazanin" panose="00000400000000000000" pitchFamily="2" charset="-78"/>
                        </a:rPr>
                        <a:t>* جزییات پس از جلسات شناخت و تحلیل، تدقیق خواهد شد.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</a:t>
                      </a:r>
                      <a:r>
                        <a:rPr lang="fa-IR" sz="1200" b="1" kern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اقتصاد نوین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114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714814"/>
            <a:ext cx="8229600" cy="458115"/>
          </a:xfrm>
        </p:spPr>
        <p:txBody>
          <a:bodyPr>
            <a:normAutofit/>
          </a:bodyPr>
          <a:lstStyle/>
          <a:p>
            <a:pPr algn="r" rtl="1"/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گزارش عملکرد </a:t>
            </a:r>
            <a:r>
              <a:rPr lang="fa-IR" sz="2400" dirty="0" smtClean="0">
                <a:solidFill>
                  <a:srgbClr val="0070C0"/>
                </a:solidFill>
                <a:cs typeface="B Titr" panose="00000700000000000000" pitchFamily="2" charset="-78"/>
              </a:rPr>
              <a:t>دی </a:t>
            </a:r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ماه واحد طراحی وب</a:t>
            </a:r>
            <a:endParaRPr lang="en-US" sz="2400" dirty="0">
              <a:solidFill>
                <a:srgbClr val="0070C0"/>
              </a:solidFill>
              <a:cs typeface="B Titr" panose="00000700000000000000" pitchFamily="2" charset="-78"/>
            </a:endParaRPr>
          </a:p>
        </p:txBody>
      </p:sp>
      <p:graphicFrame>
        <p:nvGraphicFramePr>
          <p:cNvPr id="4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330836"/>
              </p:ext>
            </p:extLst>
          </p:nvPr>
        </p:nvGraphicFramePr>
        <p:xfrm>
          <a:off x="323528" y="1556792"/>
          <a:ext cx="8496943" cy="3731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3002901"/>
                <a:gridCol w="2577718"/>
                <a:gridCol w="2124236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تحقق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عملکرد ماه</a:t>
                      </a:r>
                      <a:endParaRPr lang="en-US" sz="1400" dirty="0" smtClean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Nazanin" panose="00000400000000000000" pitchFamily="2" charset="-78"/>
                        </a:rPr>
                        <a:t>هدف </a:t>
                      </a: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ماه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سرفصل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100%</a:t>
                      </a:r>
                    </a:p>
                    <a:p>
                      <a:pPr algn="ctr" rtl="1"/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210 نفرساعت</a:t>
                      </a:r>
                      <a:endParaRPr lang="en-US" sz="1100" dirty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dirty="0" smtClean="0">
                          <a:cs typeface="B Nazanin" panose="00000400000000000000" pitchFamily="2" charset="-78"/>
                        </a:rPr>
                        <a:t>شهرداری همدان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cs typeface="B Nazanin" panose="00000400000000000000" pitchFamily="2" charset="-78"/>
                        </a:rPr>
                        <a:t>تحویل معاونت ها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cs typeface="B Nazanin" panose="00000400000000000000" pitchFamily="2" charset="-78"/>
                        </a:rPr>
                        <a:t>تحویل مناطق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cs typeface="B Nazanin" panose="00000400000000000000" pitchFamily="2" charset="-78"/>
                        </a:rPr>
                        <a:t>تحویل سازمان ها</a:t>
                      </a:r>
                      <a:endParaRPr lang="fa-IR" sz="1100" b="1" dirty="0" smtClean="0">
                        <a:cs typeface="B Nazanin" panose="00000400000000000000" pitchFamily="2" charset="-78"/>
                      </a:endParaRP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dirty="0" smtClean="0">
                          <a:cs typeface="B Nazanin" panose="00000400000000000000" pitchFamily="2" charset="-78"/>
                        </a:rPr>
                        <a:t>سازمان فضای ایران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dirty="0" smtClean="0">
                          <a:cs typeface="B Nazanin" panose="00000400000000000000" pitchFamily="2" charset="-78"/>
                        </a:rPr>
                        <a:t>بانک توسعه تعاون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dirty="0" smtClean="0">
                          <a:cs typeface="B Nazanin" panose="00000400000000000000" pitchFamily="2" charset="-78"/>
                        </a:rPr>
                        <a:t>بیمه سامان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cs typeface="B Nazanin" panose="00000400000000000000" pitchFamily="2" charset="-78"/>
                        </a:rPr>
                        <a:t>پیاده</a:t>
                      </a:r>
                      <a:r>
                        <a:rPr lang="fa-IR" sz="1100" b="0" baseline="0" dirty="0" smtClean="0">
                          <a:cs typeface="B Nazanin" panose="00000400000000000000" pitchFamily="2" charset="-78"/>
                        </a:rPr>
                        <a:t> سازی بیمه مسافرتی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baseline="0" dirty="0" smtClean="0">
                          <a:cs typeface="B Nazanin" panose="00000400000000000000" pitchFamily="2" charset="-78"/>
                        </a:rPr>
                        <a:t>حضور در محل کارفرما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baseline="0" dirty="0" smtClean="0">
                          <a:cs typeface="B Nazanin" panose="00000400000000000000" pitchFamily="2" charset="-78"/>
                        </a:rPr>
                        <a:t>ورود محتوا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baseline="0" dirty="0" smtClean="0">
                          <a:cs typeface="B Nazanin" panose="00000400000000000000" pitchFamily="2" charset="-78"/>
                        </a:rPr>
                        <a:t>پورتال سهامداران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baseline="0" dirty="0" smtClean="0">
                          <a:cs typeface="B Nazanin" panose="00000400000000000000" pitchFamily="2" charset="-78"/>
                        </a:rPr>
                        <a:t>پورتال نمایندگان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fa-IR" sz="1100" b="1" dirty="0" smtClean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0" dirty="0" smtClean="0">
                          <a:cs typeface="B Nazanin" panose="00000400000000000000" pitchFamily="2" charset="-78"/>
                        </a:rPr>
                        <a:t>شهرداری همدان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0" dirty="0" smtClean="0">
                          <a:cs typeface="B Nazanin" panose="00000400000000000000" pitchFamily="2" charset="-78"/>
                        </a:rPr>
                        <a:t>سازمان فضای ایران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0" dirty="0" smtClean="0">
                          <a:cs typeface="B Nazanin" panose="00000400000000000000" pitchFamily="2" charset="-78"/>
                        </a:rPr>
                        <a:t>بانک توسعه تعاون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0" dirty="0" smtClean="0">
                          <a:cs typeface="B Nazanin" panose="00000400000000000000" pitchFamily="2" charset="-78"/>
                        </a:rPr>
                        <a:t>بیمه سامان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اقدامات پیش از بهره  برداری</a:t>
                      </a:r>
                    </a:p>
                    <a:p>
                      <a:pPr marL="0" marR="0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پروژه های خاتمه یافته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983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714814"/>
            <a:ext cx="8229600" cy="458115"/>
          </a:xfrm>
        </p:spPr>
        <p:txBody>
          <a:bodyPr>
            <a:normAutofit/>
          </a:bodyPr>
          <a:lstStyle/>
          <a:p>
            <a:pPr algn="r" rtl="1"/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گزارش عملکرد </a:t>
            </a:r>
            <a:r>
              <a:rPr lang="fa-IR" sz="2400" dirty="0" smtClean="0">
                <a:solidFill>
                  <a:srgbClr val="0070C0"/>
                </a:solidFill>
                <a:cs typeface="B Titr" panose="00000700000000000000" pitchFamily="2" charset="-78"/>
              </a:rPr>
              <a:t>دی </a:t>
            </a:r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ماه واحد طراحی وب</a:t>
            </a:r>
            <a:endParaRPr lang="en-US" sz="2400" dirty="0">
              <a:solidFill>
                <a:srgbClr val="0070C0"/>
              </a:solidFill>
              <a:cs typeface="B Titr" panose="00000700000000000000" pitchFamily="2" charset="-78"/>
            </a:endParaRPr>
          </a:p>
        </p:txBody>
      </p:sp>
      <p:graphicFrame>
        <p:nvGraphicFramePr>
          <p:cNvPr id="4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761646"/>
              </p:ext>
            </p:extLst>
          </p:nvPr>
        </p:nvGraphicFramePr>
        <p:xfrm>
          <a:off x="323528" y="1556792"/>
          <a:ext cx="8496943" cy="398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3002901"/>
                <a:gridCol w="2577718"/>
                <a:gridCol w="2124236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تحقق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عملکرد ماه</a:t>
                      </a:r>
                      <a:endParaRPr lang="en-US" sz="1400" dirty="0" smtClean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Nazanin" panose="00000400000000000000" pitchFamily="2" charset="-78"/>
                        </a:rPr>
                        <a:t>هدف </a:t>
                      </a: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ماه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سرفصل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100%</a:t>
                      </a:r>
                    </a:p>
                    <a:p>
                      <a:pPr algn="ctr" rtl="1"/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140 نفرساعت</a:t>
                      </a:r>
                      <a:endParaRPr lang="en-US" sz="1100" dirty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dirty="0" smtClean="0">
                          <a:cs typeface="B Nazanin" panose="00000400000000000000" pitchFamily="2" charset="-78"/>
                        </a:rPr>
                        <a:t>طراحی</a:t>
                      </a:r>
                      <a:r>
                        <a:rPr lang="fa-IR" sz="1100" b="1" baseline="0" dirty="0" smtClean="0">
                          <a:cs typeface="B Nazanin" panose="00000400000000000000" pitchFamily="2" charset="-78"/>
                        </a:rPr>
                        <a:t> گرافیکی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Homepage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Pricing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Features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About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In future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dirty="0" smtClean="0">
                          <a:cs typeface="B Nazanin" panose="00000400000000000000" pitchFamily="2" charset="-78"/>
                        </a:rPr>
                        <a:t>پیاده سازی صفحات</a:t>
                      </a:r>
                      <a:endParaRPr lang="fa-IR" sz="1100" b="1" baseline="0" dirty="0" smtClean="0">
                        <a:cs typeface="B Nazanin" panose="00000400000000000000" pitchFamily="2" charset="-78"/>
                      </a:endParaRP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Homepage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Pricing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Features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About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In future</a:t>
                      </a:r>
                      <a:endParaRPr lang="fa-IR" sz="1100" b="0" baseline="0" dirty="0" smtClean="0">
                        <a:cs typeface="B Nazanin" panose="00000400000000000000" pitchFamily="2" charset="-78"/>
                      </a:endParaRPr>
                    </a:p>
                    <a:p>
                      <a:pPr marL="228600" lvl="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cs typeface="B Nazanin" panose="00000400000000000000" pitchFamily="2" charset="-78"/>
                        </a:rPr>
                        <a:t>پیاده سازی وب سایت نمونه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template</a:t>
                      </a:r>
                      <a:endParaRPr lang="fa-IR" sz="1100" b="0" baseline="0" dirty="0" smtClean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dirty="0" smtClean="0">
                          <a:cs typeface="B Nazanin" panose="00000400000000000000" pitchFamily="2" charset="-78"/>
                        </a:rPr>
                        <a:t>طراحی</a:t>
                      </a:r>
                      <a:r>
                        <a:rPr lang="fa-IR" sz="1100" b="1" baseline="0" dirty="0" smtClean="0">
                          <a:cs typeface="B Nazanin" panose="00000400000000000000" pitchFamily="2" charset="-78"/>
                        </a:rPr>
                        <a:t> گرافیکی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Homepage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Pricing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Features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About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In future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dirty="0" smtClean="0">
                          <a:cs typeface="B Nazanin" panose="00000400000000000000" pitchFamily="2" charset="-78"/>
                        </a:rPr>
                        <a:t>پیاده سازی صفحات</a:t>
                      </a:r>
                      <a:endParaRPr lang="fa-IR" sz="1100" b="1" baseline="0" dirty="0" smtClean="0">
                        <a:cs typeface="B Nazanin" panose="00000400000000000000" pitchFamily="2" charset="-78"/>
                      </a:endParaRP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Homepage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Pricing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Features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About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In future</a:t>
                      </a:r>
                      <a:endParaRPr lang="fa-IR" sz="1100" b="0" baseline="0" dirty="0" smtClean="0">
                        <a:cs typeface="B Nazanin" panose="00000400000000000000" pitchFamily="2" charset="-78"/>
                      </a:endParaRPr>
                    </a:p>
                    <a:p>
                      <a:pPr marL="228600" lvl="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cs typeface="B Nazanin" panose="00000400000000000000" pitchFamily="2" charset="-78"/>
                        </a:rPr>
                        <a:t>پیاده سازی وب سایت نمونه</a:t>
                      </a:r>
                    </a:p>
                    <a:p>
                      <a:pPr marL="685800" lvl="1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 smtClean="0">
                          <a:cs typeface="B Nazanin" panose="00000400000000000000" pitchFamily="2" charset="-78"/>
                        </a:rPr>
                        <a:t>template</a:t>
                      </a:r>
                      <a:endParaRPr lang="fa-IR" sz="1100" b="0" baseline="0" dirty="0" smtClean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Bizanium</a:t>
                      </a:r>
                      <a:endParaRPr lang="fa-IR" sz="1200" b="1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749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714814"/>
            <a:ext cx="8229600" cy="458115"/>
          </a:xfrm>
        </p:spPr>
        <p:txBody>
          <a:bodyPr>
            <a:normAutofit/>
          </a:bodyPr>
          <a:lstStyle/>
          <a:p>
            <a:pPr algn="r" rtl="1"/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گزارش عملکرد </a:t>
            </a:r>
            <a:r>
              <a:rPr lang="fa-IR" sz="2400" dirty="0" smtClean="0">
                <a:solidFill>
                  <a:srgbClr val="0070C0"/>
                </a:solidFill>
                <a:cs typeface="B Titr" panose="00000700000000000000" pitchFamily="2" charset="-78"/>
              </a:rPr>
              <a:t>دی </a:t>
            </a:r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ماه واحد طراحی وب</a:t>
            </a:r>
            <a:endParaRPr lang="en-US" sz="2400" dirty="0">
              <a:solidFill>
                <a:srgbClr val="0070C0"/>
              </a:solidFill>
              <a:cs typeface="B Titr" panose="00000700000000000000" pitchFamily="2" charset="-78"/>
            </a:endParaRPr>
          </a:p>
        </p:txBody>
      </p:sp>
      <p:graphicFrame>
        <p:nvGraphicFramePr>
          <p:cNvPr id="4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285978"/>
              </p:ext>
            </p:extLst>
          </p:nvPr>
        </p:nvGraphicFramePr>
        <p:xfrm>
          <a:off x="323528" y="1556792"/>
          <a:ext cx="8496943" cy="425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3002901"/>
                <a:gridCol w="2577718"/>
                <a:gridCol w="2124236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تحقق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عملکرد ماه</a:t>
                      </a:r>
                      <a:endParaRPr lang="en-US" sz="1400" dirty="0" smtClean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Nazanin" panose="00000400000000000000" pitchFamily="2" charset="-78"/>
                        </a:rPr>
                        <a:t>هدف </a:t>
                      </a: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ماه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سرفصل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1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95%</a:t>
                      </a:r>
                    </a:p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1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51 نفر ساعت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cs typeface="B Nazanin" panose="00000400000000000000" pitchFamily="2" charset="-78"/>
                        </a:rPr>
                        <a:t>راه اندازی زیرپورتال آموزش سامان سوئیت</a:t>
                      </a:r>
                      <a:endParaRPr lang="en-US" sz="1100" baseline="0" dirty="0" smtClean="0">
                        <a:cs typeface="B Nazanin" panose="00000400000000000000" pitchFamily="2" charset="-78"/>
                      </a:endParaRPr>
                    </a:p>
                    <a:p>
                      <a:pPr marL="171450" marR="0" lvl="1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cs typeface="B Nazanin" panose="00000400000000000000" pitchFamily="2" charset="-78"/>
                        </a:rPr>
                        <a:t>پیاده سازی صفحه اصلی</a:t>
                      </a:r>
                      <a:endParaRPr lang="en-US" sz="1100" baseline="0" dirty="0" smtClean="0">
                        <a:cs typeface="B Nazanin" panose="00000400000000000000" pitchFamily="2" charset="-78"/>
                      </a:endParaRPr>
                    </a:p>
                    <a:p>
                      <a:pPr marL="171450" marR="0" lvl="1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صفحات اسلایدر و فهرست و مشاهده ماژول ها</a:t>
                      </a:r>
                      <a:endParaRPr lang="en-US" sz="1100" b="0" baseline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cs typeface="B Nazanin" panose="00000400000000000000" pitchFamily="2" charset="-78"/>
                        </a:rPr>
                        <a:t>راه اندازی زیرپورتال آموزش سامان سوئیت</a:t>
                      </a:r>
                      <a:endParaRPr lang="en-US" sz="1100" baseline="0" dirty="0" smtClean="0">
                        <a:cs typeface="B Nazanin" panose="00000400000000000000" pitchFamily="2" charset="-78"/>
                      </a:endParaRPr>
                    </a:p>
                    <a:p>
                      <a:pPr marL="171450" marR="0" lvl="1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cs typeface="B Nazanin" panose="00000400000000000000" pitchFamily="2" charset="-78"/>
                        </a:rPr>
                        <a:t>پیاده سازی صفحه اصلی</a:t>
                      </a:r>
                      <a:endParaRPr lang="en-US" sz="1100" baseline="0" dirty="0" smtClean="0">
                        <a:cs typeface="B Nazanin" panose="00000400000000000000" pitchFamily="2" charset="-78"/>
                      </a:endParaRPr>
                    </a:p>
                    <a:p>
                      <a:pPr marL="171450" marR="0" lvl="1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صفحات اسلایدر و فهرست و مشاهده</a:t>
                      </a:r>
                      <a:endParaRPr lang="en-US" sz="1100" b="0" baseline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زیرپورتال آموزش</a:t>
                      </a:r>
                      <a:endParaRPr lang="en-US" sz="1200" b="1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100%</a:t>
                      </a:r>
                    </a:p>
                    <a:p>
                      <a:pPr algn="ctr" rtl="1"/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5 نفر ساعت</a:t>
                      </a:r>
                      <a:endParaRPr lang="en-US" sz="1100" dirty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1" indent="-17145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cs typeface="B Nazanin" panose="00000400000000000000" pitchFamily="2" charset="-78"/>
                        </a:rPr>
                        <a:t>پیاده سازی ساختار طبقه بندی سرویس ها در 3 زیرپورتال</a:t>
                      </a:r>
                    </a:p>
                    <a:p>
                      <a:pPr marL="628650" marR="0" lvl="2" indent="-17145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مشاوره </a:t>
                      </a:r>
                    </a:p>
                    <a:p>
                      <a:pPr marL="628650" marR="0" lvl="2" indent="-17145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فناوری اطلاعات</a:t>
                      </a:r>
                    </a:p>
                    <a:p>
                      <a:pPr marL="628650" marR="0" lvl="2" indent="-17145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مرکز مطالعات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1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وزارت ورزش و جوانان</a:t>
                      </a:r>
                      <a:endParaRPr lang="en-US" sz="1100" b="1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1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100%</a:t>
                      </a:r>
                    </a:p>
                    <a:p>
                      <a:pPr marL="0" marR="0" lvl="0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1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 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طراحی بنر برای وب</a:t>
                      </a:r>
                      <a:r>
                        <a:rPr lang="fa-IR" sz="11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سایت سامان</a:t>
                      </a:r>
                    </a:p>
                    <a:p>
                      <a:pPr marL="171450" marR="0" lvl="0" indent="-17145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جشن تولد سامان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1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سازه اطلاعات سامان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1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100%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1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6 نفرساعت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مطالعه </a:t>
                      </a:r>
                      <a:r>
                        <a:rPr lang="en-US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RFP</a:t>
                      </a: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ارسالی کارفرما و شناخت نیازمندی ها </a:t>
                      </a:r>
                    </a:p>
                    <a:p>
                      <a:pPr marL="171450" marR="0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ارائه</a:t>
                      </a: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برآورد زمانی دو زیرپورتال داروسازی ابوریحان </a:t>
                      </a:r>
                    </a:p>
                    <a:p>
                      <a:pPr marL="171450" marR="0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ارسال جزییات بندهای پروژه زیرپورتال مدیریت و ادارات بانک توسعه صادرات</a:t>
                      </a:r>
                    </a:p>
                    <a:p>
                      <a:pPr marL="171450" marR="0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ارسال جزییات انجام طراحی گرافیکی باشگاه مشتریان بیمه  سینا</a:t>
                      </a:r>
                    </a:p>
                    <a:p>
                      <a:pPr marL="171450" marR="0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تست اولیه منوساز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همکاری با سایر تیم ها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005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714814"/>
            <a:ext cx="8229600" cy="458115"/>
          </a:xfrm>
        </p:spPr>
        <p:txBody>
          <a:bodyPr>
            <a:normAutofit/>
          </a:bodyPr>
          <a:lstStyle/>
          <a:p>
            <a:pPr algn="r" rtl="1"/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گزارش عملکرد </a:t>
            </a:r>
            <a:r>
              <a:rPr lang="fa-IR" sz="2400" dirty="0" smtClean="0">
                <a:solidFill>
                  <a:srgbClr val="0070C0"/>
                </a:solidFill>
                <a:cs typeface="B Titr" panose="00000700000000000000" pitchFamily="2" charset="-78"/>
              </a:rPr>
              <a:t>دی </a:t>
            </a:r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ماه واحد طراحی وب</a:t>
            </a:r>
            <a:endParaRPr lang="en-US" sz="2400" dirty="0">
              <a:solidFill>
                <a:srgbClr val="0070C0"/>
              </a:solidFill>
              <a:cs typeface="B Titr" panose="00000700000000000000" pitchFamily="2" charset="-78"/>
            </a:endParaRPr>
          </a:p>
        </p:txBody>
      </p:sp>
      <p:graphicFrame>
        <p:nvGraphicFramePr>
          <p:cNvPr id="4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1948212"/>
              </p:ext>
            </p:extLst>
          </p:nvPr>
        </p:nvGraphicFramePr>
        <p:xfrm>
          <a:off x="323528" y="1556792"/>
          <a:ext cx="8496943" cy="282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/>
                <a:gridCol w="3002901"/>
                <a:gridCol w="2577718"/>
                <a:gridCol w="2124236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تحقق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عملکرد ماه</a:t>
                      </a:r>
                      <a:endParaRPr lang="en-US" sz="1400" dirty="0" smtClean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Nazanin" panose="00000400000000000000" pitchFamily="2" charset="-78"/>
                        </a:rPr>
                        <a:t>هدف </a:t>
                      </a: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ماه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dirty="0" smtClean="0">
                          <a:cs typeface="B Nazanin" panose="00000400000000000000" pitchFamily="2" charset="-78"/>
                        </a:rPr>
                        <a:t>سرفصل</a:t>
                      </a:r>
                      <a:endParaRPr lang="en-US" sz="14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100%</a:t>
                      </a:r>
                    </a:p>
                    <a:p>
                      <a:pPr algn="ctr" rtl="1"/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6 نفرساعت</a:t>
                      </a:r>
                      <a:endParaRPr lang="en-US" sz="1100" dirty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="0" baseline="0" dirty="0" smtClean="0">
                          <a:cs typeface="B Nazanin" panose="00000400000000000000" pitchFamily="2" charset="-78"/>
                        </a:rPr>
                        <a:t>برگزاری جلسه آموزش جی کوئری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="0" baseline="0" dirty="0" smtClean="0">
                          <a:cs typeface="B Nazanin" panose="00000400000000000000" pitchFamily="2" charset="-78"/>
                        </a:rPr>
                        <a:t>برگزاری جلسه آموزش جی کوئری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یادگیری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1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100%</a:t>
                      </a:r>
                    </a:p>
                    <a:p>
                      <a:pPr marL="0" marR="0" lvl="0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1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22 نفرساعت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جلسات برنامه ریزی هفتگی و ماهانه </a:t>
                      </a:r>
                    </a:p>
                    <a:p>
                      <a:pPr marL="171450" indent="-1714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جلسات</a:t>
                      </a: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برنامه ریزی درون واحدی  </a:t>
                      </a:r>
                    </a:p>
                    <a:p>
                      <a:pPr marL="171450" indent="-1714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جلسات با سایر واحدها</a:t>
                      </a:r>
                    </a:p>
                    <a:p>
                      <a:pPr marL="171450" marR="0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</a:t>
                      </a:r>
                      <a:r>
                        <a:rPr lang="en-US" sz="11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price list </a:t>
                      </a:r>
                      <a:endParaRPr lang="fa-IR" sz="1100" b="0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171450" marR="0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گزارش افراد کم توان در شهرداری همدان</a:t>
                      </a:r>
                    </a:p>
                    <a:p>
                      <a:pPr marL="171450" marR="0" indent="-171450" algn="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جلسه مدیریت پروژه صندوق توسعه صنایع دریایی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جلسات برنامه ریزی هفتگی و ماهانه 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جلسات</a:t>
                      </a: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برنامه ریزی درون واحدی  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جلسات با سایر واحدها</a:t>
                      </a:r>
                      <a:endParaRPr lang="fa-IR" sz="1100" b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جلسات داخلی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100%</a:t>
                      </a:r>
                    </a:p>
                    <a:p>
                      <a:pPr algn="ctr" rtl="1"/>
                      <a:r>
                        <a:rPr lang="fa-IR" sz="110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15 نفر ساعت</a:t>
                      </a:r>
                      <a:endParaRPr lang="en-US" sz="1100" dirty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indent="-17145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="0" baseline="0" dirty="0" smtClean="0">
                          <a:cs typeface="B Nazanin" panose="00000400000000000000" pitchFamily="2" charset="-78"/>
                        </a:rPr>
                        <a:t>تنظیم گزارش و برنامه هفته</a:t>
                      </a:r>
                    </a:p>
                    <a:p>
                      <a:pPr marL="171450" marR="0" indent="-17145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="0" baseline="0" dirty="0" smtClean="0">
                          <a:cs typeface="B Nazanin" panose="00000400000000000000" pitchFamily="2" charset="-78"/>
                        </a:rPr>
                        <a:t>تنظیم گزارش ماه جاری و برنامه ماه آتی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indent="-17145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="0" baseline="0" dirty="0" smtClean="0">
                          <a:cs typeface="B Nazanin" panose="00000400000000000000" pitchFamily="2" charset="-78"/>
                        </a:rPr>
                        <a:t>تنظیم گزارش و برنامه هفته</a:t>
                      </a:r>
                    </a:p>
                    <a:p>
                      <a:pPr marL="171450" marR="0" indent="-17145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="0" baseline="0" dirty="0" smtClean="0">
                          <a:cs typeface="B Nazanin" panose="00000400000000000000" pitchFamily="2" charset="-78"/>
                        </a:rPr>
                        <a:t>تنظیم گزارش ماه جاری و برنامه ماه آتی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برنامه</a:t>
                      </a:r>
                      <a:r>
                        <a:rPr lang="fa-IR" sz="1200" b="1" kern="1200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ریزی 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192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714814"/>
            <a:ext cx="8229600" cy="458115"/>
          </a:xfrm>
        </p:spPr>
        <p:txBody>
          <a:bodyPr>
            <a:normAutofit/>
          </a:bodyPr>
          <a:lstStyle/>
          <a:p>
            <a:pPr algn="r" rtl="1"/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برنامه </a:t>
            </a:r>
            <a:r>
              <a:rPr lang="fa-IR" sz="2400" dirty="0" smtClean="0">
                <a:solidFill>
                  <a:srgbClr val="0070C0"/>
                </a:solidFill>
                <a:cs typeface="B Titr" panose="00000700000000000000" pitchFamily="2" charset="-78"/>
              </a:rPr>
              <a:t>بهمن </a:t>
            </a:r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ماه واحد طراحی وب</a:t>
            </a:r>
            <a:endParaRPr lang="en-US" sz="2400" dirty="0">
              <a:solidFill>
                <a:srgbClr val="0070C0"/>
              </a:solidFill>
              <a:cs typeface="B Titr" panose="00000700000000000000" pitchFamily="2" charset="-78"/>
            </a:endParaRPr>
          </a:p>
        </p:txBody>
      </p:sp>
      <p:graphicFrame>
        <p:nvGraphicFramePr>
          <p:cNvPr id="4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6887474"/>
              </p:ext>
            </p:extLst>
          </p:nvPr>
        </p:nvGraphicFramePr>
        <p:xfrm>
          <a:off x="323529" y="1700808"/>
          <a:ext cx="8424938" cy="4460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273"/>
                <a:gridCol w="927517"/>
                <a:gridCol w="4357576"/>
                <a:gridCol w="1748572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هدف ماه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برآورد حجم فعالیت</a:t>
                      </a:r>
                      <a:r>
                        <a:rPr lang="fa-IR" sz="1200" baseline="0" dirty="0" smtClean="0">
                          <a:cs typeface="B Nazanin" panose="00000400000000000000" pitchFamily="2" charset="-78"/>
                        </a:rPr>
                        <a:t> ها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فعالیت های ماه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سرفصل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تحویل کامل</a:t>
                      </a:r>
                    </a:p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پورتال</a:t>
                      </a:r>
                      <a:r>
                        <a:rPr lang="fa-IR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لاتین</a:t>
                      </a:r>
                    </a:p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(100%)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  <a:p>
                      <a:pPr marL="0" marR="0" lvl="1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a-IR" sz="1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50 نفر ساعت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نمای گرافیکی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پورتال اینترنتی لاتین (30 نفرساعت)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ساختار محتوا و منوها</a:t>
                      </a:r>
                    </a:p>
                    <a:p>
                      <a:pPr marL="628650" lvl="1" indent="-1714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پورتال اینترنتی لاتین (10 نفرساعت)</a:t>
                      </a:r>
                    </a:p>
                    <a:p>
                      <a:pPr marL="228600" lvl="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05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اصلاحات درخواستی کارفرما پس از تحویل پورتال فارسی و لاتین</a:t>
                      </a:r>
                      <a:r>
                        <a:rPr lang="fa-IR" sz="105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(10 نفرساعت)</a:t>
                      </a:r>
                      <a:endParaRPr lang="fa-IR" sz="1050" b="1" baseline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 اقتصاد نوین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تحویل کامل زیرپورتال</a:t>
                      </a:r>
                    </a:p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تعاون نیوز</a:t>
                      </a:r>
                    </a:p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(100%)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45 نفر ساعت</a:t>
                      </a:r>
                      <a:endParaRPr 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نمای گرافیکی</a:t>
                      </a:r>
                    </a:p>
                    <a:p>
                      <a:pPr marL="628650" lvl="1" indent="-1714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زیرپورتال خبری تعاون نیوز (30 نفرساعت)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ساختار محتوا و منوها</a:t>
                      </a:r>
                    </a:p>
                    <a:p>
                      <a:pPr marL="628650" lvl="1" indent="-17145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زیرپورتال خبری تعاون نیوز (10 نفرساعت)</a:t>
                      </a:r>
                    </a:p>
                    <a:p>
                      <a:pPr marL="228600" lvl="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05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اصلاحات درخواستی کارفرما پس از تحویل زیرپورتال خبری تعاون نیوز </a:t>
                      </a:r>
                      <a:r>
                        <a:rPr lang="fa-IR" sz="105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(5 نفرساعت)</a:t>
                      </a:r>
                      <a:endParaRPr lang="fa-IR" sz="1050" b="1" baseline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بانک توسعه تعاون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تحویل کامل پورتال</a:t>
                      </a:r>
                    </a:p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ایمیدرو</a:t>
                      </a:r>
                    </a:p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(100%)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05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32</a:t>
                      </a:r>
                      <a:r>
                        <a:rPr lang="fa-IR" sz="1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2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marR="0" lvl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طراحی چیدمان </a:t>
                      </a:r>
                    </a:p>
                    <a:p>
                      <a:pPr marL="628650" lvl="1" indent="-171450" algn="r" defTabSz="914400" rtl="1" eaLnBrk="1" latinLnBrk="0" hangingPunct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سرمایه گذاری (2 نفرساعت)</a:t>
                      </a:r>
                      <a:endParaRPr lang="fa-IR" sz="1100" kern="1200" baseline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  <a:p>
                      <a:pPr marL="228600" marR="0" lvl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طراحی گرافیکی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سرمایه گذاری (10 نفرساعت)</a:t>
                      </a:r>
                    </a:p>
                    <a:p>
                      <a:pPr marL="228600" marR="0" lvl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نمای گرافیکی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صفحه داخلی سرمایه گذاری (20 نفرساعت)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ایمیدرو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92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714814"/>
            <a:ext cx="8229600" cy="458115"/>
          </a:xfrm>
        </p:spPr>
        <p:txBody>
          <a:bodyPr>
            <a:normAutofit/>
          </a:bodyPr>
          <a:lstStyle/>
          <a:p>
            <a:pPr algn="r" rtl="1"/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برنامه </a:t>
            </a:r>
            <a:r>
              <a:rPr lang="fa-IR" sz="2400" dirty="0" smtClean="0">
                <a:solidFill>
                  <a:srgbClr val="0070C0"/>
                </a:solidFill>
                <a:cs typeface="B Titr" panose="00000700000000000000" pitchFamily="2" charset="-78"/>
              </a:rPr>
              <a:t>بهمن </a:t>
            </a:r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ماه واحد طراحی وب</a:t>
            </a:r>
            <a:endParaRPr lang="en-US" sz="2400" dirty="0">
              <a:solidFill>
                <a:srgbClr val="0070C0"/>
              </a:solidFill>
              <a:cs typeface="B Titr" panose="00000700000000000000" pitchFamily="2" charset="-78"/>
            </a:endParaRPr>
          </a:p>
        </p:txBody>
      </p:sp>
      <p:graphicFrame>
        <p:nvGraphicFramePr>
          <p:cNvPr id="4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996944"/>
              </p:ext>
            </p:extLst>
          </p:nvPr>
        </p:nvGraphicFramePr>
        <p:xfrm>
          <a:off x="323529" y="1700808"/>
          <a:ext cx="842493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273"/>
                <a:gridCol w="927517"/>
                <a:gridCol w="4357576"/>
                <a:gridCol w="1748572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هدف ماه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برآورد حجم فعالیت</a:t>
                      </a:r>
                      <a:r>
                        <a:rPr lang="fa-IR" sz="1200" baseline="0" dirty="0" smtClean="0">
                          <a:cs typeface="B Nazanin" panose="00000400000000000000" pitchFamily="2" charset="-78"/>
                        </a:rPr>
                        <a:t> ها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فعالیت های ماه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سرفصل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تحویل کامل 4 زیرپورتال</a:t>
                      </a:r>
                      <a:r>
                        <a:rPr lang="fa-IR" sz="1200" baseline="0" dirty="0" smtClean="0"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100%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smtClean="0">
                          <a:cs typeface="B Nazanin" panose="00000400000000000000" pitchFamily="2" charset="-78"/>
                        </a:rPr>
                        <a:t>150 </a:t>
                      </a:r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نفر ساعت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راه اندازی کامل يک نمونه زیرپورتال پايلوت برای زيرپورتال استان ها (5</a:t>
                      </a:r>
                      <a:r>
                        <a:rPr lang="fa-IR" sz="1100" baseline="0" dirty="0" smtClean="0">
                          <a:cs typeface="B Nazanin" panose="00000400000000000000" pitchFamily="2" charset="-78"/>
                        </a:rPr>
                        <a:t> نفر ساعت</a:t>
                      </a: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)</a:t>
                      </a:r>
                      <a:endParaRPr lang="en-US" sz="1100" dirty="0" smtClean="0">
                        <a:cs typeface="B Nazanin" panose="00000400000000000000" pitchFamily="2" charset="-78"/>
                      </a:endParaRPr>
                    </a:p>
                    <a:p>
                      <a:pPr marL="228600" marR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طراحی نمای گرافيکي زیرپورتال استانی نمونه (20</a:t>
                      </a:r>
                      <a:r>
                        <a:rPr lang="fa-IR" sz="1100" baseline="0" dirty="0" smtClean="0">
                          <a:cs typeface="B Nazanin" panose="00000400000000000000" pitchFamily="2" charset="-78"/>
                        </a:rPr>
                        <a:t> نفر ساعت</a:t>
                      </a: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)</a:t>
                      </a:r>
                    </a:p>
                    <a:p>
                      <a:pPr marL="228600" marR="0" indent="-22860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پیاده سازی نمای گرافیکی زیرپورتال استانی نمونه (40</a:t>
                      </a:r>
                      <a:r>
                        <a:rPr lang="fa-IR" sz="1100" baseline="0" dirty="0" smtClean="0">
                          <a:cs typeface="B Nazanin" panose="00000400000000000000" pitchFamily="2" charset="-78"/>
                        </a:rPr>
                        <a:t> نفر ساعت</a:t>
                      </a: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)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ایجاد و راه اندازی 3 زیر پورتال نمونه استانی</a:t>
                      </a:r>
                      <a:r>
                        <a:rPr lang="fa-IR" sz="1100" baseline="0" dirty="0" smtClean="0">
                          <a:cs typeface="B Nazanin" panose="00000400000000000000" pitchFamily="2" charset="-78"/>
                        </a:rPr>
                        <a:t> مطابق با نمونه </a:t>
                      </a: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(40</a:t>
                      </a:r>
                      <a:r>
                        <a:rPr lang="fa-IR" sz="1100" baseline="0" dirty="0" smtClean="0">
                          <a:cs typeface="B Nazanin" panose="00000400000000000000" pitchFamily="2" charset="-78"/>
                        </a:rPr>
                        <a:t> نفر ساعت</a:t>
                      </a: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)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طراحی هدر برای تمامی</a:t>
                      </a:r>
                      <a:r>
                        <a:rPr lang="fa-IR" sz="1100" baseline="0" dirty="0" smtClean="0">
                          <a:cs typeface="B Nazanin" panose="00000400000000000000" pitchFamily="2" charset="-78"/>
                        </a:rPr>
                        <a:t> زیرپورتال ها (10 نفر ساعت)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تعریف کاربران و تنظیم حقوق دسترسی (5 نفر ساعت)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ورود اطلاعات محتوا (حدود 30 صفحه</a:t>
                      </a:r>
                      <a:r>
                        <a:rPr lang="en-US" sz="1100" dirty="0" smtClean="0">
                          <a:cs typeface="B Nazanin" panose="00000400000000000000" pitchFamily="2" charset="-78"/>
                        </a:rPr>
                        <a:t>HTML </a:t>
                      </a: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) (30</a:t>
                      </a:r>
                      <a:r>
                        <a:rPr lang="fa-IR" sz="1100" baseline="0" dirty="0" smtClean="0">
                          <a:cs typeface="B Nazanin" panose="00000400000000000000" pitchFamily="2" charset="-78"/>
                        </a:rPr>
                        <a:t> نفر ساعت</a:t>
                      </a: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)</a:t>
                      </a:r>
                      <a:endParaRPr lang="en-US" sz="1100" dirty="0" smtClean="0">
                        <a:cs typeface="B Nazanin" panose="00000400000000000000" pitchFamily="2" charset="-78"/>
                      </a:endParaRPr>
                    </a:p>
                    <a:p>
                      <a:pPr marL="228600" indent="-228600" algn="r" rtl="1">
                        <a:buFont typeface="+mj-lt"/>
                        <a:buAutoNum type="arabicPeriod"/>
                      </a:pP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زير پورتال های استاني سازمان نظام صنفي رايانه کشور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40% از کل پروژه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30 نفر ساعت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1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طراحی نمای گرافیکی</a:t>
                      </a:r>
                    </a:p>
                    <a:p>
                      <a:pPr marL="628650" marR="0" lvl="1" indent="-17145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a-IR" sz="110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پورتال اینترنتی فارسی و لاتین (30 نفرساعت)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صندوق توسعه صنایع دریایی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تحویل کامل</a:t>
                      </a:r>
                    </a:p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100%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70</a:t>
                      </a:r>
                      <a:r>
                        <a:rPr lang="fa-IR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نفر ساعت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نمای گرافیکی باشگاه مشتریان (40 نفر</a:t>
                      </a: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ساعت</a:t>
                      </a:r>
                      <a:r>
                        <a:rPr lang="fa-IR" sz="1100" b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)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پیاده سازی ساختار محتوایی و منوها (10 نفر ساعت)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اصلاحات قالب های باشگاه (20 نفر ساعت)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بیمه سینا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3095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714814"/>
            <a:ext cx="8229600" cy="458115"/>
          </a:xfrm>
        </p:spPr>
        <p:txBody>
          <a:bodyPr>
            <a:normAutofit/>
          </a:bodyPr>
          <a:lstStyle/>
          <a:p>
            <a:pPr algn="r" rtl="1"/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برنامه </a:t>
            </a:r>
            <a:r>
              <a:rPr lang="fa-IR" sz="2400" dirty="0" smtClean="0">
                <a:solidFill>
                  <a:srgbClr val="0070C0"/>
                </a:solidFill>
                <a:cs typeface="B Titr" panose="00000700000000000000" pitchFamily="2" charset="-78"/>
              </a:rPr>
              <a:t>بهمن </a:t>
            </a:r>
            <a:r>
              <a:rPr lang="fa-IR" sz="2400" dirty="0">
                <a:solidFill>
                  <a:srgbClr val="0070C0"/>
                </a:solidFill>
                <a:cs typeface="B Titr" panose="00000700000000000000" pitchFamily="2" charset="-78"/>
              </a:rPr>
              <a:t>ماه واحد طراحی وب</a:t>
            </a:r>
            <a:endParaRPr lang="en-US" sz="2400" dirty="0">
              <a:solidFill>
                <a:srgbClr val="0070C0"/>
              </a:solidFill>
              <a:cs typeface="B Titr" panose="00000700000000000000" pitchFamily="2" charset="-78"/>
            </a:endParaRPr>
          </a:p>
        </p:txBody>
      </p:sp>
      <p:graphicFrame>
        <p:nvGraphicFramePr>
          <p:cNvPr id="4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7387264"/>
              </p:ext>
            </p:extLst>
          </p:nvPr>
        </p:nvGraphicFramePr>
        <p:xfrm>
          <a:off x="323529" y="1700808"/>
          <a:ext cx="8424938" cy="3063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273"/>
                <a:gridCol w="927517"/>
                <a:gridCol w="4357576"/>
                <a:gridCol w="1748572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هدف ماه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برآورد حجم فعالیت</a:t>
                      </a:r>
                      <a:r>
                        <a:rPr lang="fa-IR" sz="1200" baseline="0" dirty="0" smtClean="0">
                          <a:cs typeface="B Nazanin" panose="00000400000000000000" pitchFamily="2" charset="-78"/>
                        </a:rPr>
                        <a:t> ها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فعالیت های ماه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dirty="0" smtClean="0">
                          <a:cs typeface="B Nazanin" panose="00000400000000000000" pitchFamily="2" charset="-78"/>
                        </a:rPr>
                        <a:t>سرفصل</a:t>
                      </a:r>
                      <a:endParaRPr lang="en-US" sz="12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694928"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تحویل کامل</a:t>
                      </a:r>
                    </a:p>
                    <a:p>
                      <a:pPr marL="0" marR="0" lvl="1" indent="0" algn="ctr" defTabSz="914400" rtl="1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100%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30 </a:t>
                      </a: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</a:t>
                      </a:r>
                      <a:r>
                        <a:rPr lang="fa-IR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ساعت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ورود محتوا (20 نفر ساعت</a:t>
                      </a: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)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زیرپورتال </a:t>
                      </a:r>
                      <a:r>
                        <a:rPr lang="en-US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template </a:t>
                      </a: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(10 نفر ساعت)</a:t>
                      </a:r>
                      <a:endParaRPr lang="fa-IR" sz="1100" b="0" baseline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en-US" sz="1200" b="1" kern="1200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Bizanium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694928"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kern="1200" dirty="0" smtClean="0">
                        <a:solidFill>
                          <a:srgbClr val="00B050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15</a:t>
                      </a:r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28600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جلسات برنامه ریزی هفتگی و ماهانه </a:t>
                      </a: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(10 نفر ساعت)</a:t>
                      </a:r>
                      <a:endParaRPr lang="fa-IR" sz="1100" b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جلسات</a:t>
                      </a: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 برنامه ریزی درون واحدی  (3 نفر ساعت)</a:t>
                      </a:r>
                    </a:p>
                    <a:p>
                      <a:pPr marL="228600" indent="-228600" algn="r" rtl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a-IR" sz="1100" b="0" baseline="0" dirty="0" smtClean="0">
                          <a:solidFill>
                            <a:schemeClr val="tx1"/>
                          </a:solidFill>
                          <a:cs typeface="B Nazanin" panose="00000400000000000000" pitchFamily="2" charset="-78"/>
                        </a:rPr>
                        <a:t>جلسات با سایر واحدها  (2 نفر ساعت)</a:t>
                      </a:r>
                      <a:endParaRPr lang="fa-IR" sz="1100" b="0" dirty="0" smtClean="0">
                        <a:solidFill>
                          <a:schemeClr val="tx1"/>
                        </a:solidFill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جلسات داخلی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694928"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انجام کلیه تیکت های</a:t>
                      </a:r>
                    </a:p>
                    <a:p>
                      <a:pPr marL="0" marR="0" lvl="1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ارسالی از واحد پشتیبانی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5</a:t>
                      </a:r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نفر ساعت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r" rtl="1">
                        <a:buFont typeface="Arial" panose="020B0604020202020204" pitchFamily="34" charset="0"/>
                        <a:buNone/>
                      </a:pPr>
                      <a:r>
                        <a:rPr lang="fa-IR" sz="1100" dirty="0" smtClean="0">
                          <a:cs typeface="B Nazanin" panose="00000400000000000000" pitchFamily="2" charset="-78"/>
                        </a:rPr>
                        <a:t>رسیدگی به تیکت های پشتیبانی</a:t>
                      </a:r>
                      <a:endParaRPr lang="en-US" sz="1100" dirty="0"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خدمات پشتیبانی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2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تکمیل فرم ارزیابی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3 نفر ساعت</a:t>
                      </a:r>
                      <a:endParaRPr 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a-IR" sz="11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برگزاری</a:t>
                      </a:r>
                      <a:r>
                        <a:rPr lang="fa-IR" sz="11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 جلسات فردی با اعضای تیم در خصوص ارزیابی شاخص های عملکرد واحد</a:t>
                      </a:r>
                      <a:endParaRPr lang="fa-IR" sz="1100" b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1" hangingPunct="1"/>
                      <a:r>
                        <a:rPr lang="fa-IR" sz="1200" b="1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B Nazanin" panose="00000400000000000000" pitchFamily="2" charset="-78"/>
                        </a:rPr>
                        <a:t>توسعه ارتباطات</a:t>
                      </a:r>
                      <a:endParaRPr lang="en-US" sz="1200" b="1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59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1171</Words>
  <Application>Microsoft Office PowerPoint</Application>
  <PresentationFormat>On-screen Show (4:3)</PresentationFormat>
  <Paragraphs>285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 Nazanin</vt:lpstr>
      <vt:lpstr>B Titr</vt:lpstr>
      <vt:lpstr>Calibri</vt:lpstr>
      <vt:lpstr>Office Theme</vt:lpstr>
      <vt:lpstr>گزارش عملکرد دی و برنامه بهمن  واحد « طراحی وب» 1398</vt:lpstr>
      <vt:lpstr>گزارش عملکرد دی ماه واحد طراحی وب</vt:lpstr>
      <vt:lpstr>گزارش عملکرد دی ماه واحد طراحی وب</vt:lpstr>
      <vt:lpstr>گزارش عملکرد دی ماه واحد طراحی وب</vt:lpstr>
      <vt:lpstr>گزارش عملکرد دی ماه واحد طراحی وب</vt:lpstr>
      <vt:lpstr>گزارش عملکرد دی ماه واحد طراحی وب</vt:lpstr>
      <vt:lpstr>گزارش عملکرد دی ماه واحد طراحی وب</vt:lpstr>
      <vt:lpstr>برنامه بهمن ماه واحد طراحی وب</vt:lpstr>
      <vt:lpstr>برنامه بهمن ماه واحد طراحی وب</vt:lpstr>
      <vt:lpstr>برنامه بهمن ماه واحد طراحی وب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2013-12-27T07:50:55Z</dcterms:created>
  <dcterms:modified xsi:type="dcterms:W3CDTF">2020-01-21T10:40:27Z</dcterms:modified>
</cp:coreProperties>
</file>
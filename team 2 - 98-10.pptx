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17"/>
  </p:handoutMasterIdLst>
  <p:sldIdLst>
    <p:sldId id="256" r:id="rId2"/>
    <p:sldId id="259" r:id="rId3"/>
    <p:sldId id="269" r:id="rId4"/>
    <p:sldId id="268" r:id="rId5"/>
    <p:sldId id="271" r:id="rId6"/>
    <p:sldId id="265" r:id="rId7"/>
    <p:sldId id="266" r:id="rId8"/>
    <p:sldId id="272" r:id="rId9"/>
    <p:sldId id="267" r:id="rId10"/>
    <p:sldId id="276" r:id="rId11"/>
    <p:sldId id="273" r:id="rId12"/>
    <p:sldId id="274" r:id="rId13"/>
    <p:sldId id="277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70" d="100"/>
          <a:sy n="70" d="100"/>
        </p:scale>
        <p:origin x="84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278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C325B-2E1E-4B48-B690-A765F045B1AC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D4C29-C39F-4552-AA33-FCC5D7470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57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 algn="ctr" rtl="1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1075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147" y="195256"/>
            <a:ext cx="11029616" cy="1013800"/>
          </a:xfrm>
        </p:spPr>
        <p:txBody>
          <a:bodyPr anchor="ctr"/>
          <a:lstStyle>
            <a:lvl1pPr algn="r">
              <a:defRPr>
                <a:cs typeface="B Nazanin" panose="00000400000000000000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286" y="1384554"/>
            <a:ext cx="11309338" cy="5263672"/>
          </a:xfrm>
        </p:spPr>
        <p:txBody>
          <a:bodyPr anchor="t"/>
          <a:lstStyle>
            <a:lvl1pPr algn="just" rtl="1">
              <a:spcBef>
                <a:spcPts val="600"/>
              </a:spcBef>
              <a:defRPr>
                <a:cs typeface="B Nazanin" panose="00000400000000000000" pitchFamily="2" charset="-78"/>
              </a:defRPr>
            </a:lvl1pPr>
            <a:lvl2pPr algn="just" rtl="1">
              <a:spcBef>
                <a:spcPts val="600"/>
              </a:spcBef>
              <a:defRPr>
                <a:cs typeface="B Nazanin" panose="00000400000000000000" pitchFamily="2" charset="-78"/>
              </a:defRPr>
            </a:lvl2pPr>
            <a:lvl3pPr algn="just" rtl="1">
              <a:spcBef>
                <a:spcPts val="600"/>
              </a:spcBef>
              <a:defRPr>
                <a:cs typeface="B Nazanin" panose="00000400000000000000" pitchFamily="2" charset="-78"/>
              </a:defRPr>
            </a:lvl3pPr>
            <a:lvl4pPr algn="just" rtl="1">
              <a:spcBef>
                <a:spcPts val="600"/>
              </a:spcBef>
              <a:defRPr>
                <a:cs typeface="B Nazanin" panose="00000400000000000000" pitchFamily="2" charset="-78"/>
              </a:defRPr>
            </a:lvl4pPr>
            <a:lvl5pPr algn="just" rtl="1">
              <a:spcBef>
                <a:spcPts val="600"/>
              </a:spcBef>
              <a:defRPr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fa-IR" b="1" dirty="0">
                <a:cs typeface="B Nazanin" panose="00000400000000000000" pitchFamily="2" charset="-78"/>
              </a:rPr>
              <a:t>عملکرد </a:t>
            </a:r>
            <a:r>
              <a:rPr lang="fa-IR" b="1" dirty="0" smtClean="0">
                <a:cs typeface="B Nazanin" panose="00000400000000000000" pitchFamily="2" charset="-78"/>
              </a:rPr>
              <a:t>دی </a:t>
            </a:r>
            <a:r>
              <a:rPr lang="fa-IR" b="1" dirty="0">
                <a:cs typeface="B Nazanin" panose="00000400000000000000" pitchFamily="2" charset="-78"/>
              </a:rPr>
              <a:t>و برنامه </a:t>
            </a:r>
            <a:r>
              <a:rPr lang="fa-IR" b="1" dirty="0" smtClean="0">
                <a:cs typeface="B Nazanin" panose="00000400000000000000" pitchFamily="2" charset="-78"/>
              </a:rPr>
              <a:t>ریزی بهمن</a:t>
            </a: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2000" b="1" dirty="0" smtClean="0">
                <a:cs typeface="B Nazanin" panose="00000400000000000000" pitchFamily="2" charset="-78"/>
              </a:rPr>
              <a:t>98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1525" y="4485939"/>
            <a:ext cx="9070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bg1"/>
                </a:solidFill>
                <a:cs typeface="B Nazanin" panose="00000400000000000000" pitchFamily="2" charset="-78"/>
              </a:rPr>
              <a:t>تیم توسعه دفتر تهران</a:t>
            </a:r>
            <a:endParaRPr lang="en-US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539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1800" dirty="0" smtClean="0"/>
              <a:t>عملکرد دی ماه 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توسعه محصول نرم افزاری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396928"/>
              </p:ext>
            </p:extLst>
          </p:nvPr>
        </p:nvGraphicFramePr>
        <p:xfrm>
          <a:off x="439738" y="1384299"/>
          <a:ext cx="11296854" cy="2091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335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293685">
                  <a:extLst>
                    <a:ext uri="{9D8B030D-6E8A-4147-A177-3AD203B41FA5}">
                      <a16:colId xmlns:a16="http://schemas.microsoft.com/office/drawing/2014/main" val="1683260314"/>
                    </a:ext>
                  </a:extLst>
                </a:gridCol>
                <a:gridCol w="2581834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عملکرد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پروژه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تحلیل</a:t>
                      </a: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ماژول صفحه شخصی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45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مرحله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تست و تحویل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ماژول منوساز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37682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8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ایجاد نسخه </a:t>
                      </a:r>
                      <a:r>
                        <a:rPr lang="en-US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install</a:t>
                      </a: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نسخه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3.0.5.1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312637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25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انسداد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رنج</a:t>
                      </a:r>
                      <a:r>
                        <a:rPr lang="en-US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IP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در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سیستم مشتریان </a:t>
                      </a: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ماژول سرور پایش مشتریان سامان 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190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29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1800" dirty="0"/>
              <a:t>عملکرد دی ماه 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توسعه نرم افزار سفارش مشتري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315960"/>
              </p:ext>
            </p:extLst>
          </p:nvPr>
        </p:nvGraphicFramePr>
        <p:xfrm>
          <a:off x="439738" y="1384299"/>
          <a:ext cx="11296854" cy="5322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335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584141">
                  <a:extLst>
                    <a:ext uri="{9D8B030D-6E8A-4147-A177-3AD203B41FA5}">
                      <a16:colId xmlns:a16="http://schemas.microsoft.com/office/drawing/2014/main" val="1683260314"/>
                    </a:ext>
                  </a:extLst>
                </a:gridCol>
                <a:gridCol w="2291378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عملکرد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مشتری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34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فاز شناخت و تحلیل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کانورت فایل ها و گزارشات سهامداران و مکانیزم ایجاد کاربر در زیر پورتال سهامداران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اتصال به </a:t>
                      </a:r>
                      <a:r>
                        <a:rPr lang="en-US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LDAP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 برای زیرپورتال و وب سرویس بساما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واحد پروژه)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تحلیل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و شناخت مسئله و جلسه هماهنگی با آقای ابراهیمی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در محل کارفرما و تهیه سند شناخت فروش بیمه نامه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تکمیل گزارشات سهامداران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واحد پروژه)</a:t>
                      </a: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تکمیل سند شناخت  فروش بیمه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نامه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واحد پروژه)</a:t>
                      </a: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تغییر مکانیزم ورود بیمه سامان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واحد پروژه)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بیمه سامان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53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گزارش بودجه توزیع نشده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کارفرما)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گزارش سود و زیان عملکرد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(در انتظار اقدام کارفرما)</a:t>
                      </a: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در محل کارفرما  بررسی و تحلیل گزارش به همراه کارفرما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بیمه ایران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87241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48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تغییرات در سرویس ریزتراکنش های شاپرکی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(در انتظار تایید به کارفرما)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سرویس </a:t>
                      </a:r>
                      <a:r>
                        <a:rPr lang="en-US" sz="1600" b="0" kern="12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sms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(در اقدام کارفرما)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شهر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993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3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1800" dirty="0"/>
              <a:t>عملکرد دی ماه 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توسعه نرم افزار سفارش مشتري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00338"/>
              </p:ext>
            </p:extLst>
          </p:nvPr>
        </p:nvGraphicFramePr>
        <p:xfrm>
          <a:off x="439737" y="1384299"/>
          <a:ext cx="11297338" cy="4865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60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675087">
                  <a:extLst>
                    <a:ext uri="{9D8B030D-6E8A-4147-A177-3AD203B41FA5}">
                      <a16:colId xmlns:a16="http://schemas.microsoft.com/office/drawing/2014/main" val="168326031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عملکرد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مشتری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241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انتقال سرویس ثبت نام اعضا به سامان سوئیت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(216 نفرساعت)</a:t>
                      </a:r>
                      <a:endParaRPr lang="fa-IR" sz="1600" b="1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تکمیل و  تحویل به امور مشتریان سرویس استعلام عضویت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(20 نفرساعت)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سند چند پرداختی نظام صنفی (تحویل به امور مشتریان)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(5 نفر ساعت)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سازمان نظام صنفی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074685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16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 رفع موارد و تست و انتقال و جلسه تحویل شناسنامه سیستم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کارفرما)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تجارت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30217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8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تهیه سند شناخت اولیه برای سرویس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شاهکار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کارفرما)</a:t>
                      </a:r>
                      <a:endParaRPr lang="fa-IR" sz="1600" b="1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سرمایه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998113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20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وب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سرویس  ماژول استعلام ضمانت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نامه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واحد پروژه)</a:t>
                      </a:r>
                      <a:endParaRPr lang="fa-IR" sz="1600" b="1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وب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سرویس  ماژول استعلام کد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شبا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واحد پروژه)</a:t>
                      </a:r>
                      <a:endParaRPr lang="fa-IR" sz="1600" b="1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توسعه تعاون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486289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59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بررسی و رفع خطای وب سرویس </a:t>
                      </a:r>
                      <a:r>
                        <a:rPr lang="en-US" sz="1600" b="0" kern="12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sms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سازمان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فضایی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واحد پروژه)</a:t>
                      </a:r>
                      <a:endParaRPr lang="fa-IR" sz="1600" b="1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ماژول سرویس اسلایدر تصاویر مقایسه ماهواره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ای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(تکمیل)</a:t>
                      </a:r>
                      <a:endParaRPr lang="fa-IR" sz="1600" b="1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تکمیل و تهیه اسناد برای 4 فرآیند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واحد پروژه)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تغییرات در وب سرویس نسخه موبایل سازمان فضایی 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(تحویل به آقای اسکندریان)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سازمان فضایی ایران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413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31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1800" dirty="0"/>
              <a:t>عملکرد دی ماه 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توسعه نرم افزار سفارش مشتري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375958"/>
              </p:ext>
            </p:extLst>
          </p:nvPr>
        </p:nvGraphicFramePr>
        <p:xfrm>
          <a:off x="439738" y="1384299"/>
          <a:ext cx="11296854" cy="3981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335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584141">
                  <a:extLst>
                    <a:ext uri="{9D8B030D-6E8A-4147-A177-3AD203B41FA5}">
                      <a16:colId xmlns:a16="http://schemas.microsoft.com/office/drawing/2014/main" val="1683260314"/>
                    </a:ext>
                  </a:extLst>
                </a:gridCol>
                <a:gridCol w="2291378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عملکرد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مشتری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در مورد باشگاه مشتریان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صادرات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074685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و دمو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تحلیل نیازمندی 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سرویس فرصت های سرمایه گذاری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وزارت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صنعت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30217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51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جلسات هماهنگی در شرکت </a:t>
                      </a: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شناخت در محل کارفرما </a:t>
                      </a: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تحلیل 2 فرآیند از 24 فرآیند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با آقایان اسکندریان و ابراهیمی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صنایع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دریایی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998113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6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باشگاه تشکیل شد و مقرر شد برای راه اندازی باشگاه توسعه های مورد طبق توافق و زمان بندی معین انجام شود.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بیمه سینا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48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60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1800" dirty="0"/>
              <a:t>عملکرد دی ماه 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پشتیبانی فنی </a:t>
            </a:r>
            <a:r>
              <a:rPr lang="fa-IR" dirty="0" smtClean="0"/>
              <a:t>محصول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570417"/>
              </p:ext>
            </p:extLst>
          </p:nvPr>
        </p:nvGraphicFramePr>
        <p:xfrm>
          <a:off x="439738" y="1384299"/>
          <a:ext cx="11296855" cy="2549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493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844225">
                  <a:extLst>
                    <a:ext uri="{9D8B030D-6E8A-4147-A177-3AD203B41FA5}">
                      <a16:colId xmlns:a16="http://schemas.microsoft.com/office/drawing/2014/main" val="2155473480"/>
                    </a:ext>
                  </a:extLst>
                </a:gridCol>
                <a:gridCol w="2302137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عملکرد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مشتری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7 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خطا و پاسخگویی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سازمان فضایی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خطا و پاسخگویی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توسعه تعاون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87241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نصب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نسخه جدید ماژول تیکت روی سرور تستی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سامانه تیکت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712053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117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خطا و پاسخگویی و افزودن موارد جدید 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نصب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نسخه همدان در سرور داخلی برای تست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سایر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074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08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1800" dirty="0"/>
              <a:t>عملکرد دی ماه 98</a:t>
            </a:r>
            <a:r>
              <a:rPr lang="fa-IR" dirty="0"/>
              <a:t/>
            </a:r>
            <a:br>
              <a:rPr lang="fa-IR" dirty="0"/>
            </a:br>
            <a:r>
              <a:rPr lang="fa-IR" dirty="0" smtClean="0"/>
              <a:t>پشتیبانی فنی نرم افزارهای سفارش مشتري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3463285"/>
              </p:ext>
            </p:extLst>
          </p:nvPr>
        </p:nvGraphicFramePr>
        <p:xfrm>
          <a:off x="439738" y="1384299"/>
          <a:ext cx="11296855" cy="282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730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390504">
                  <a:extLst>
                    <a:ext uri="{9D8B030D-6E8A-4147-A177-3AD203B41FA5}">
                      <a16:colId xmlns:a16="http://schemas.microsoft.com/office/drawing/2014/main" val="1015748644"/>
                    </a:ext>
                  </a:extLst>
                </a:gridCol>
                <a:gridCol w="2280621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عملکرد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مشتری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90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خطا، بررسی و پاسخگویی به تیکت ها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تیکت مشتریان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3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پیاده سازی درخواست اطلاعیه ها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سرمایه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87241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8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خطای گواهی تمکن </a:t>
                      </a:r>
                      <a:endParaRPr lang="fa-IR" sz="1600" b="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شهر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968236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24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تیکت های ارسال شده توسط آقای موسوی 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ساخت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patch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های امنیتی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مشکل امنیتی افتا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مشکلات امنیتی پورتال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601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35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1800" dirty="0"/>
              <a:t>عملکرد دی ماه 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فعاليت آموزش و یادگیری، جذب نیرو، تدوین فرآیند، ... (به تفکیک)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480158"/>
              </p:ext>
            </p:extLst>
          </p:nvPr>
        </p:nvGraphicFramePr>
        <p:xfrm>
          <a:off x="439738" y="1384299"/>
          <a:ext cx="11296855" cy="3128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730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390504">
                  <a:extLst>
                    <a:ext uri="{9D8B030D-6E8A-4147-A177-3AD203B41FA5}">
                      <a16:colId xmlns:a16="http://schemas.microsoft.com/office/drawing/2014/main" val="1015748644"/>
                    </a:ext>
                  </a:extLst>
                </a:gridCol>
                <a:gridCol w="2280621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عملکرد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نوع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48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ارزیابی عملکرد 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روند اجرای کارها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درون تیمی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7:30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گزارش </a:t>
                      </a: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ماهانه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تهیه گزارش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گزارش ماهانه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87241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14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 خانم اکبری و آقای اسکندریان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در مورد روند اجرای پروژه های </a:t>
                      </a: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خاص</a:t>
                      </a:r>
                    </a:p>
                    <a:p>
                      <a:pPr marL="285750" marR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در رابطه با مدیریت پروژه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میان تیمی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830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37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1800" dirty="0" smtClean="0"/>
              <a:t>عملکرد دی ماه 98</a:t>
            </a:r>
            <a:endParaRPr lang="fa-IR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001606"/>
              </p:ext>
            </p:extLst>
          </p:nvPr>
        </p:nvGraphicFramePr>
        <p:xfrm>
          <a:off x="439738" y="1384299"/>
          <a:ext cx="11283689" cy="2694937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917611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8366078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عملکرد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نوع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60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محصول نرم افزاری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551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نرم افزار سفارش مشتري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87241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135 نفر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پشتیبانی فنی محصول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830907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125 نفر 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پشتیبانی فنی نرم افزارهای سفارش مشتري 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808672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69:30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فعاليت آموزش و یادگیری، جذب نیرو، تدوین فرآیند، ... (به تفکیک)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37332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940:30 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جمع کل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793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91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fa-IR" b="1" dirty="0" smtClean="0">
                <a:cs typeface="B Nazanin" panose="00000400000000000000" pitchFamily="2" charset="-78"/>
              </a:rPr>
              <a:t>برنامه </a:t>
            </a:r>
            <a:r>
              <a:rPr lang="fa-IR" b="1" dirty="0" smtClean="0">
                <a:cs typeface="B Nazanin" panose="00000400000000000000" pitchFamily="2" charset="-78"/>
              </a:rPr>
              <a:t>ریزی بهمن</a:t>
            </a: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2000" b="1" dirty="0" smtClean="0">
                <a:cs typeface="B Nazanin" panose="00000400000000000000" pitchFamily="2" charset="-78"/>
              </a:rPr>
              <a:t>98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1525" y="4485939"/>
            <a:ext cx="9070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bg1"/>
                </a:solidFill>
                <a:cs typeface="B Nazanin" panose="00000400000000000000" pitchFamily="2" charset="-78"/>
              </a:rPr>
              <a:t>تیم توسعه دفتر تهران</a:t>
            </a:r>
            <a:endParaRPr lang="en-US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567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1800" dirty="0">
                <a:solidFill>
                  <a:prstClr val="white"/>
                </a:solidFill>
              </a:rPr>
              <a:t>برنامه ریزی بهمن </a:t>
            </a:r>
            <a:r>
              <a:rPr lang="fa-IR" sz="1800" dirty="0" smtClean="0">
                <a:solidFill>
                  <a:prstClr val="white"/>
                </a:solidFill>
              </a:rPr>
              <a:t>ماه 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توسعه محصول نرم افزاری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4966012"/>
              </p:ext>
            </p:extLst>
          </p:nvPr>
        </p:nvGraphicFramePr>
        <p:xfrm>
          <a:off x="439738" y="1384299"/>
          <a:ext cx="11296855" cy="1848031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1625730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390504">
                  <a:extLst>
                    <a:ext uri="{9D8B030D-6E8A-4147-A177-3AD203B41FA5}">
                      <a16:colId xmlns:a16="http://schemas.microsoft.com/office/drawing/2014/main" val="1015748644"/>
                    </a:ext>
                  </a:extLst>
                </a:gridCol>
                <a:gridCol w="2280621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برنامه ماه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پروژه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پیش بینی  60 نفرساعت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تحلیل و تهیه سند تکرار و پیاده سازی 50%  تکمیل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یا 100% تکمیل در صورت جایگزینی زمان  با صنایع دریایی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صفحه شخصی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 نفر ساعت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تحلیل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و امکان سنجی و پیاده سازی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موردی در سامانه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تیکتینگ 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968236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70 نفر </a:t>
                      </a: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a-IR" sz="1600" b="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جمع کل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601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27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1800" dirty="0" smtClean="0"/>
              <a:t>برنامه ریزی بهمن ماه </a:t>
            </a:r>
            <a:r>
              <a:rPr lang="fa-IR" sz="1800" dirty="0"/>
              <a:t>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توسعه نرم افزار سفارش مشتري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523095"/>
              </p:ext>
            </p:extLst>
          </p:nvPr>
        </p:nvGraphicFramePr>
        <p:xfrm>
          <a:off x="439738" y="1384299"/>
          <a:ext cx="11296855" cy="518160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1625730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390504">
                  <a:extLst>
                    <a:ext uri="{9D8B030D-6E8A-4147-A177-3AD203B41FA5}">
                      <a16:colId xmlns:a16="http://schemas.microsoft.com/office/drawing/2014/main" val="1015748644"/>
                    </a:ext>
                  </a:extLst>
                </a:gridCol>
                <a:gridCol w="2280621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برنامه ماه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  <a:p>
                      <a:pPr algn="ctr" rtl="1"/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مشتری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250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جلسات تحلیل و ساخت فرایندها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؟؟ صنایع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دریایی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50 نفر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در باشگاه مشتریان –افزودن  امکان پیامک – 50 % تکمیل -   در صورت جایگزینی زمان  100% تکمیل با 100 نفر ساعت 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صادرات 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87241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250 نفرساعت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انتقال سرویس عضویت – و کانورت اطلاعات -  تکمیل 100% 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نظام صنفی 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968236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30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کانورت اطلاعات سه زیر پورتال  تکمیل 100% 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نظام صنفی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86986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20 نفر </a:t>
                      </a: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کانورت داده – تکمیل 100%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اقتصاد نوین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601398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 نفر 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سرویس ریزتراکنش ها و پنل پیامکی پورتال   - تست توسط مشتری و تحویل 100%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شهر 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339476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40 نفر 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باشگاه مشتریان  - راه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اندازی و استقرار – توسعه طبق توافق با کارفرما 40 نفر ساعت 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بیمه سینا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733774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100 نفر 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پیاده سازی در فرآیندهای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خدمات الکترونیک – فرآیند مسابقه عکاسی – 50 % تکمیل یا 100%  تکمیل با 200 نفر ساعت 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سازمان فضایی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678037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750 نفر ساعت</a:t>
                      </a:r>
                      <a:endParaRPr lang="fa-IR" sz="1400" b="1" kern="1200" baseline="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a-IR" sz="1600" b="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جمع کل</a:t>
                      </a:r>
                      <a:endParaRPr lang="fa-IR" sz="16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391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76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1800" dirty="0" smtClean="0"/>
              <a:t>برنامه ریزی بهمن ماه </a:t>
            </a:r>
            <a:r>
              <a:rPr lang="fa-IR" sz="1800" dirty="0"/>
              <a:t>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پشتیبانی فنی محصول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055310"/>
              </p:ext>
            </p:extLst>
          </p:nvPr>
        </p:nvGraphicFramePr>
        <p:xfrm>
          <a:off x="439738" y="1384299"/>
          <a:ext cx="11296855" cy="316992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1625730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390504">
                  <a:extLst>
                    <a:ext uri="{9D8B030D-6E8A-4147-A177-3AD203B41FA5}">
                      <a16:colId xmlns:a16="http://schemas.microsoft.com/office/drawing/2014/main" val="1015748644"/>
                    </a:ext>
                  </a:extLst>
                </a:gridCol>
                <a:gridCol w="2280621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برنامه ماه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  <a:p>
                      <a:pPr algn="ctr" rtl="1"/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مشتری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60 نفرساعت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باگ های گزارش شده از واحد پروژه و پشتیبانی و طراحی وب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انجام بدون تاخیر درخواستها  میانگین زمان پاسخ 2 نفر ساعت و حداکثر زمان پاسخ 4 نفر ساعت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600" b="0" kern="12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بیمه سامان - اقتصاد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نوین – 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شهرداری همدان – نظام صنفی –سازمان فضایی و ...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20 نفر ساعت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رفع باگ و اعمال</a:t>
                      </a:r>
                      <a:r>
                        <a:rPr lang="fa-IR" sz="1600" b="0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اصلاحیه در مشتریان</a:t>
                      </a: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مشکلات امنیتی پورتال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157011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87241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80 نفر ساعت</a:t>
                      </a:r>
                      <a:endParaRPr lang="fa-IR" sz="1400" b="1" kern="1200" baseline="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600" b="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جمع</a:t>
                      </a:r>
                      <a:r>
                        <a:rPr lang="fa-IR" sz="16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کل</a:t>
                      </a:r>
                      <a:endParaRPr lang="fa-IR" sz="16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7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64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1800" dirty="0" smtClean="0"/>
              <a:t>برنامه ریزی بهمن ماه </a:t>
            </a:r>
            <a:r>
              <a:rPr lang="fa-IR" sz="1800" dirty="0"/>
              <a:t>98</a:t>
            </a:r>
            <a:r>
              <a:rPr lang="fa-IR" dirty="0"/>
              <a:t/>
            </a:r>
            <a:br>
              <a:rPr lang="fa-IR" dirty="0"/>
            </a:br>
            <a:r>
              <a:rPr lang="fa-IR" dirty="0"/>
              <a:t>پشتیبانی فنی نرم افزارهای سفارش مشتري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274792"/>
              </p:ext>
            </p:extLst>
          </p:nvPr>
        </p:nvGraphicFramePr>
        <p:xfrm>
          <a:off x="439738" y="1384299"/>
          <a:ext cx="11296855" cy="231648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1625730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7390504">
                  <a:extLst>
                    <a:ext uri="{9D8B030D-6E8A-4147-A177-3AD203B41FA5}">
                      <a16:colId xmlns:a16="http://schemas.microsoft.com/office/drawing/2014/main" val="1015748644"/>
                    </a:ext>
                  </a:extLst>
                </a:gridCol>
                <a:gridCol w="2280621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برنامه ماه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  <a:p>
                      <a:pPr algn="ctr" rtl="1"/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فعالیت / اقدام</a:t>
                      </a:r>
                      <a:endParaRPr lang="en-US" sz="1600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مشتری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60 نفرساعت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انجام بدون تاخیر درخواستها  میانگین زمان پاسخ 2 نفر ساعت و حداکثر زمان پاسخ 4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تجارت – بانک سرمایه – بیمه ایران – بانک پارسیان -....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6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968236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60 انفر </a:t>
                      </a: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600" b="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جمع</a:t>
                      </a:r>
                      <a:r>
                        <a:rPr lang="fa-IR" sz="16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کل</a:t>
                      </a:r>
                      <a:endParaRPr lang="fa-IR" sz="16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601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54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1800" dirty="0" smtClean="0"/>
              <a:t>برنامه ریزی بهمن ماه </a:t>
            </a:r>
            <a:r>
              <a:rPr lang="fa-IR" sz="1800" dirty="0"/>
              <a:t>98</a:t>
            </a:r>
            <a:r>
              <a:rPr lang="fa-IR" dirty="0"/>
              <a:t/>
            </a:r>
            <a:br>
              <a:rPr lang="fa-IR" dirty="0"/>
            </a:br>
            <a:r>
              <a:rPr lang="fa-IR" dirty="0" smtClean="0"/>
              <a:t>خلاصه برنامه بهمن ماه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490675"/>
              </p:ext>
            </p:extLst>
          </p:nvPr>
        </p:nvGraphicFramePr>
        <p:xfrm>
          <a:off x="439738" y="1384299"/>
          <a:ext cx="11283689" cy="2221773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4696002">
                  <a:extLst>
                    <a:ext uri="{9D8B030D-6E8A-4147-A177-3AD203B41FA5}">
                      <a16:colId xmlns:a16="http://schemas.microsoft.com/office/drawing/2014/main" val="1037382655"/>
                    </a:ext>
                  </a:extLst>
                </a:gridCol>
                <a:gridCol w="6587687">
                  <a:extLst>
                    <a:ext uri="{9D8B030D-6E8A-4147-A177-3AD203B41FA5}">
                      <a16:colId xmlns:a16="http://schemas.microsoft.com/office/drawing/2014/main" val="3580763997"/>
                    </a:ext>
                  </a:extLst>
                </a:gridCol>
              </a:tblGrid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برنامه ماه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dirty="0" smtClean="0">
                          <a:cs typeface="B Nazanin" panose="00000400000000000000" pitchFamily="2" charset="-78"/>
                        </a:rPr>
                        <a:t>برنامه / فعالیت و اقدام</a:t>
                      </a:r>
                      <a:endParaRPr lang="en-US" sz="16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45818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algn="ctr" rtl="1"/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بر حسب نفر ساعت</a:t>
                      </a:r>
                      <a:endParaRPr lang="fa-IR" sz="1400" b="1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جهت دهی توزیع منابع به سمت تولید ارزش افزوده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869020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70 نفر ساعت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750 نفر ساعت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80 نفر ساعت</a:t>
                      </a:r>
                    </a:p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60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محصول 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توسحه نرم افزار سفارش</a:t>
                      </a: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مشتری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پشتیبانی فنی رایگان 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پشتیبانی فنی بهادار</a:t>
                      </a:r>
                      <a:endParaRPr lang="fa-IR" sz="16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968236"/>
                  </a:ext>
                </a:extLst>
              </a:tr>
              <a:tr h="384991">
                <a:tc>
                  <a:txBody>
                    <a:bodyPr/>
                    <a:lstStyle/>
                    <a:p>
                      <a:pPr marL="0" marR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960  نفر </a:t>
                      </a:r>
                      <a:r>
                        <a:rPr lang="fa-IR" sz="14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جمع</a:t>
                      </a:r>
                      <a:r>
                        <a:rPr lang="fa-IR" sz="16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کل</a:t>
                      </a:r>
                      <a:endParaRPr lang="fa-IR" sz="16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601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34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1095</TotalTime>
  <Words>1119</Words>
  <Application>Microsoft Office PowerPoint</Application>
  <PresentationFormat>Widescreen</PresentationFormat>
  <Paragraphs>238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 Nazanin</vt:lpstr>
      <vt:lpstr>Calibri</vt:lpstr>
      <vt:lpstr>Gill Sans MT</vt:lpstr>
      <vt:lpstr>Wingdings 2</vt:lpstr>
      <vt:lpstr>Dividend</vt:lpstr>
      <vt:lpstr>عملکرد دی و برنامه ریزی بهمن</vt:lpstr>
      <vt:lpstr>عملکرد دی ماه 98 توسعه محصول نرم افزاری</vt:lpstr>
      <vt:lpstr>عملکرد دی ماه 98 توسعه نرم افزار سفارش مشتري</vt:lpstr>
      <vt:lpstr>عملکرد دی ماه 98 توسعه نرم افزار سفارش مشتري</vt:lpstr>
      <vt:lpstr>عملکرد دی ماه 98 توسعه نرم افزار سفارش مشتري</vt:lpstr>
      <vt:lpstr>عملکرد دی ماه 98 پشتیبانی فنی محصول</vt:lpstr>
      <vt:lpstr>عملکرد دی ماه 98 پشتیبانی فنی نرم افزارهای سفارش مشتري </vt:lpstr>
      <vt:lpstr>عملکرد دی ماه 98 فعاليت آموزش و یادگیری، جذب نیرو، تدوین فرآیند، ... (به تفکیک)</vt:lpstr>
      <vt:lpstr>عملکرد دی ماه 98</vt:lpstr>
      <vt:lpstr>برنامه ریزی بهمن</vt:lpstr>
      <vt:lpstr>برنامه ریزی بهمن ماه 98 توسعه محصول نرم افزاری</vt:lpstr>
      <vt:lpstr>برنامه ریزی بهمن ماه 98 توسعه نرم افزار سفارش مشتري</vt:lpstr>
      <vt:lpstr>برنامه ریزی بهمن ماه 98 پشتیبانی فنی محصول</vt:lpstr>
      <vt:lpstr>برنامه ریزی بهمن ماه 98 پشتیبانی فنی نرم افزارهای سفارش مشتري </vt:lpstr>
      <vt:lpstr>برنامه ریزی بهمن ماه 98 خلاصه برنامه بهمن ماه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هديه بهرام پرور</dc:creator>
  <cp:lastModifiedBy>هديه بهرام پرور</cp:lastModifiedBy>
  <cp:revision>188</cp:revision>
  <dcterms:created xsi:type="dcterms:W3CDTF">2019-05-19T12:25:33Z</dcterms:created>
  <dcterms:modified xsi:type="dcterms:W3CDTF">2020-01-21T15:51:08Z</dcterms:modified>
</cp:coreProperties>
</file>